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g"/>
  <Default Extension="png" ContentType="image/png"/>
  <Default Extension="bmp" ContentType="image/bmp"/>
  <Default Extension="gif" ContentType="image/gif"/>
  <Default Extension="tif" ContentType="image/tif"/>
  <Default Extension="pdf" ContentType="application/pdf"/>
  <Default Extension="mov" ContentType="application/movie"/>
  <Default Extension="vml" ContentType="application/vnd.openxmlformats-officedocument.vmlDrawing"/>
  <Default Extension="xlsx" ContentType="application/vnd.openxmlformats-officedocument.spreadsheetml.sheet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commentAuthors.xml" ContentType="application/vnd.openxmlformats-officedocument.presentationml.commentAuthors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media/image1.jpeg" ContentType="image/jpeg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ldMasterIdLst>
    <p:sldMasterId id="2147483648" r:id="rId5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</p:sldIdLst>
  <p:sldSz cx="9144000" cy="51435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1pPr>
    <a:lvl2pPr marL="0" marR="0" indent="457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2pPr>
    <a:lvl3pPr marL="0" marR="0" indent="914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3pPr>
    <a:lvl4pPr marL="0" marR="0" indent="1371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4pPr>
    <a:lvl5pPr marL="0" marR="0" indent="18288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5pPr>
    <a:lvl6pPr marL="0" marR="0" indent="22860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6pPr>
    <a:lvl7pPr marL="0" marR="0" indent="2743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7pPr>
    <a:lvl8pPr marL="0" marR="0" indent="3200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8pPr>
    <a:lvl9pPr marL="0" marR="0" indent="3657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DD4EA"/>
          </a:solidFill>
        </a:fill>
      </a:tcStyle>
    </a:wholeTbl>
    <a:band2H>
      <a:tcTxStyle b="def" i="def"/>
      <a:tcStyle>
        <a:tcBdr/>
        <a:fill>
          <a:solidFill>
            <a:srgbClr val="E8EBF5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E0E0E0"/>
          </a:solidFill>
        </a:fill>
      </a:tcStyle>
    </a:wholeTbl>
    <a:band2H>
      <a:tcTxStyle b="def" i="def"/>
      <a:tcStyle>
        <a:tcBdr/>
        <a:fill>
          <a:solidFill>
            <a:srgbClr val="F0F0F0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EEE7283C-3CF3-47DC-8721-378D4A62B22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4E2CE"/>
          </a:solidFill>
        </a:fill>
      </a:tcStyle>
    </a:wholeTbl>
    <a:band2H>
      <a:tcTxStyle b="def" i="def"/>
      <a:tcStyle>
        <a:tcBdr/>
        <a:fill>
          <a:solidFill>
            <a:srgbClr val="EBF1E8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CF821DB8-F4EB-4A41-A1BA-3FCAFE7338EE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33BA23B1-9221-436E-865A-0063620EA4FD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 b="def" i="def"/>
      <a:tcStyle>
        <a:tcBdr/>
        <a:fill>
          <a:solidFill>
            <a:srgbClr val="E6E6E6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  <a:tblStyle styleId="{2708684C-4D16-4618-839F-0558EEFCDFE6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Comments="1"/>
</file>

<file path=ppt/_rels/presentation.xml.rels><?xml version="1.0" encoding="UTF-8"?>
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/Relationships>
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</Relationships>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Shape 27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28" name="Shape 28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latinLnBrk="0">
      <a:defRPr sz="1200">
        <a:latin typeface="+mn-lt"/>
        <a:ea typeface="+mn-ea"/>
        <a:cs typeface="+mn-cs"/>
        <a:sym typeface="Calibri"/>
      </a:defRPr>
    </a:lvl1pPr>
    <a:lvl2pPr indent="228600" latinLnBrk="0">
      <a:defRPr sz="1200">
        <a:latin typeface="+mn-lt"/>
        <a:ea typeface="+mn-ea"/>
        <a:cs typeface="+mn-cs"/>
        <a:sym typeface="Calibri"/>
      </a:defRPr>
    </a:lvl2pPr>
    <a:lvl3pPr indent="457200" latinLnBrk="0">
      <a:defRPr sz="1200">
        <a:latin typeface="+mn-lt"/>
        <a:ea typeface="+mn-ea"/>
        <a:cs typeface="+mn-cs"/>
        <a:sym typeface="Calibri"/>
      </a:defRPr>
    </a:lvl3pPr>
    <a:lvl4pPr indent="685800" latinLnBrk="0">
      <a:defRPr sz="1200">
        <a:latin typeface="+mn-lt"/>
        <a:ea typeface="+mn-ea"/>
        <a:cs typeface="+mn-cs"/>
        <a:sym typeface="Calibri"/>
      </a:defRPr>
    </a:lvl4pPr>
    <a:lvl5pPr indent="914400" latinLnBrk="0">
      <a:defRPr sz="1200">
        <a:latin typeface="+mn-lt"/>
        <a:ea typeface="+mn-ea"/>
        <a:cs typeface="+mn-cs"/>
        <a:sym typeface="Calibri"/>
      </a:defRPr>
    </a:lvl5pPr>
    <a:lvl6pPr indent="1143000" latinLnBrk="0">
      <a:defRPr sz="1200">
        <a:latin typeface="+mn-lt"/>
        <a:ea typeface="+mn-ea"/>
        <a:cs typeface="+mn-cs"/>
        <a:sym typeface="Calibri"/>
      </a:defRPr>
    </a:lvl6pPr>
    <a:lvl7pPr indent="1371600" latinLnBrk="0">
      <a:defRPr sz="1200">
        <a:latin typeface="+mn-lt"/>
        <a:ea typeface="+mn-ea"/>
        <a:cs typeface="+mn-cs"/>
        <a:sym typeface="Calibri"/>
      </a:defRPr>
    </a:lvl7pPr>
    <a:lvl8pPr indent="1600200" latinLnBrk="0">
      <a:defRPr sz="1200">
        <a:latin typeface="+mn-lt"/>
        <a:ea typeface="+mn-ea"/>
        <a:cs typeface="+mn-cs"/>
        <a:sym typeface="Calibri"/>
      </a:defRPr>
    </a:lvl8pPr>
    <a:lvl9pPr indent="1828800" latinLnBrk="0">
      <a:defRPr sz="1200">
        <a:latin typeface="+mn-lt"/>
        <a:ea typeface="+mn-ea"/>
        <a:cs typeface="+mn-cs"/>
        <a:sym typeface="Calibri"/>
      </a:defRPr>
    </a:lvl9pPr>
  </p:notesStyle>
</p:notesMaster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1.png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Slide master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D6F5EE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9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pic>
        <p:nvPicPr>
          <p:cNvPr id="20" name="Image 0" descr="Image 0">
            <a:hlinkClick r:id="rId2" invalidUrl="" action="" tgtFrame="" tooltip="" history="1" highlightClick="0" endSnd="0"/>
          </p:cNvPr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8029179" y="4844491"/>
            <a:ext cx="1071844" cy="256033"/>
          </a:xfrm>
          <a:prstGeom prst="rect">
            <a:avLst/>
          </a:prstGeom>
          <a:ln w="12700">
            <a:miter lim="400000"/>
          </a:ln>
        </p:spPr>
      </p:pic>
      <p:sp>
        <p:nvSpPr>
          <p:cNvPr id="21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Text"/>
          <p:cNvSpPr txBox="1"/>
          <p:nvPr>
            <p:ph type="title"/>
          </p:nvPr>
        </p:nvSpPr>
        <p:spPr>
          <a:xfrm>
            <a:off x="457200" y="69056"/>
            <a:ext cx="8229600" cy="113109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/>
          <a:lstStyle/>
          <a:p>
            <a:pPr/>
            <a:r>
              <a:t>Title Text</a:t>
            </a:r>
          </a:p>
        </p:txBody>
      </p:sp>
      <p:sp>
        <p:nvSpPr>
          <p:cNvPr id="3" name="Body Level One…"/>
          <p:cNvSpPr txBox="1"/>
          <p:nvPr>
            <p:ph type="body" idx="1"/>
          </p:nvPr>
        </p:nvSpPr>
        <p:spPr>
          <a:xfrm>
            <a:off x="457200" y="1200150"/>
            <a:ext cx="8229600" cy="39433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/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" name="Slide Number"/>
          <p:cNvSpPr txBox="1"/>
          <p:nvPr>
            <p:ph type="sldNum" sz="quarter" idx="2"/>
          </p:nvPr>
        </p:nvSpPr>
        <p:spPr>
          <a:xfrm>
            <a:off x="4419600" y="4627562"/>
            <a:ext cx="2133600" cy="279401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 anchor="ctr">
            <a:spAutoFit/>
          </a:bodyPr>
          <a:lstStyle>
            <a:lvl1pPr algn="r">
              <a:defRPr sz="1200"/>
            </a:lvl1pPr>
          </a:lstStyle>
          <a:p>
            <a:pPr/>
            <a:fld id="{86CB4B4D-7CA3-9044-876B-883B54F8677D}" type="slidenum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  <p:transition xmlns:p14="http://schemas.microsoft.com/office/powerpoint/2010/main" spd="med" advClick="1"/>
  <p:txStyles>
    <p:titleStyle>
      <a:lvl1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1pPr>
      <a:lvl2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2pPr>
      <a:lvl3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3pPr>
      <a:lvl4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4pPr>
      <a:lvl5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5pPr>
      <a:lvl6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6pPr>
      <a:lvl7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7pPr>
      <a:lvl8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8pPr>
      <a:lvl9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9pPr>
    </p:titleStyle>
    <p:bodyStyle>
      <a:lvl1pPr marL="342900" marR="0" indent="-34290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1pPr>
      <a:lvl2pPr marL="783771" marR="0" indent="-326571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–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2pPr>
      <a:lvl3pPr marL="1219200" marR="0" indent="-30480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3pPr>
      <a:lvl4pPr marL="17373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–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4pPr>
      <a:lvl5pPr marL="21945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»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5pPr>
      <a:lvl6pPr marL="26517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6pPr>
      <a:lvl7pPr marL="31089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7pPr>
      <a:lvl8pPr marL="3566159" marR="0" indent="-365759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8pPr>
      <a:lvl9pPr marL="4023359" marR="0" indent="-365759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9pPr>
    </p:bodyStyle>
    <p:otherStyle>
      <a:lvl1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1pPr>
      <a:lvl2pPr marL="0" marR="0" indent="4572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2pPr>
      <a:lvl3pPr marL="0" marR="0" indent="9144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3pPr>
      <a:lvl4pPr marL="0" marR="0" indent="13716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4pPr>
      <a:lvl5pPr marL="0" marR="0" indent="18288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5pPr>
      <a:lvl6pPr marL="0" marR="0" indent="22860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6pPr>
      <a:lvl7pPr marL="0" marR="0" indent="27432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7pPr>
      <a:lvl8pPr marL="0" marR="0" indent="32004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8pPr>
      <a:lvl9pPr marL="0" marR="0" indent="36576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9pPr>
    </p:otherStyle>
  </p:txStyles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jpeg"/></Relationships>
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/Relationships>
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0"/>
          <p:cNvSpPr/>
          <p:nvPr/>
        </p:nvSpPr>
        <p:spPr>
          <a:xfrm>
            <a:off x="496118" y="460176"/>
            <a:ext cx="1394818" cy="215356"/>
          </a:xfrm>
          <a:prstGeom prst="roundRect">
            <a:avLst>
              <a:gd name="adj" fmla="val 22119"/>
            </a:avLst>
          </a:prstGeom>
          <a:solidFill>
            <a:srgbClr val="D6F5EE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31" name="Text 1"/>
          <p:cNvSpPr txBox="1"/>
          <p:nvPr/>
        </p:nvSpPr>
        <p:spPr>
          <a:xfrm>
            <a:off x="581174" y="502666"/>
            <a:ext cx="1130697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ct val="96000"/>
              </a:lnSpc>
              <a:defRPr sz="800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</a:lstStyle>
          <a:p>
            <a:pPr/>
            <a:r>
              <a:t>ПРОТОТИП V0.2 · 2026</a:t>
            </a:r>
          </a:p>
        </p:txBody>
      </p:sp>
      <p:sp>
        <p:nvSpPr>
          <p:cNvPr id="32" name="Text 2"/>
          <p:cNvSpPr txBox="1"/>
          <p:nvPr/>
        </p:nvSpPr>
        <p:spPr>
          <a:xfrm>
            <a:off x="496119" y="732233"/>
            <a:ext cx="2134059" cy="406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ct val="104000"/>
              </a:lnSpc>
              <a:defRPr b="1" sz="2700">
                <a:solidFill>
                  <a:srgbClr val="333F70"/>
                </a:solidFill>
                <a:latin typeface="Unbounded Bold"/>
                <a:ea typeface="Unbounded Bold"/>
                <a:cs typeface="Unbounded Bold"/>
                <a:sym typeface="Unbounded Bold"/>
              </a:defRPr>
            </a:lvl1pPr>
          </a:lstStyle>
          <a:p>
            <a:pPr/>
            <a:r>
              <a:t>Auto Arsenal</a:t>
            </a:r>
          </a:p>
        </p:txBody>
      </p:sp>
      <p:sp>
        <p:nvSpPr>
          <p:cNvPr id="33" name="Text 3"/>
          <p:cNvSpPr txBox="1"/>
          <p:nvPr/>
        </p:nvSpPr>
        <p:spPr>
          <a:xfrm>
            <a:off x="496119" y="1387821"/>
            <a:ext cx="8151763" cy="183415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lnSpc>
                <a:spcPct val="104000"/>
              </a:lnSpc>
              <a:defRPr b="1" sz="3800">
                <a:solidFill>
                  <a:srgbClr val="333F70"/>
                </a:solidFill>
                <a:latin typeface="Unbounded Bold"/>
                <a:ea typeface="Unbounded Bold"/>
                <a:cs typeface="Unbounded Bold"/>
                <a:sym typeface="Unbounded Bold"/>
              </a:defRPr>
            </a:lvl1pPr>
          </a:lstStyle>
          <a:p>
            <a:pPr/>
            <a:r>
              <a:t>Roguelike-survivor с автоатакой и системой прогрессии</a:t>
            </a:r>
          </a:p>
        </p:txBody>
      </p:sp>
      <p:sp>
        <p:nvSpPr>
          <p:cNvPr id="34" name="Text 4"/>
          <p:cNvSpPr txBox="1"/>
          <p:nvPr/>
        </p:nvSpPr>
        <p:spPr>
          <a:xfrm>
            <a:off x="496119" y="3434581"/>
            <a:ext cx="3528461" cy="165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ct val="133000"/>
              </a:lnSpc>
              <a:defRPr sz="1100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</a:lstStyle>
          <a:p>
            <a:pPr/>
            <a:r>
              <a:t>Python 3.x · Pygame · Командный проект по геймдеву</a:t>
            </a:r>
          </a:p>
        </p:txBody>
      </p:sp>
      <p:sp>
        <p:nvSpPr>
          <p:cNvPr id="35" name="Shape 5"/>
          <p:cNvSpPr/>
          <p:nvPr/>
        </p:nvSpPr>
        <p:spPr>
          <a:xfrm>
            <a:off x="496118" y="3856285"/>
            <a:ext cx="8151764" cy="19051"/>
          </a:xfrm>
          <a:prstGeom prst="roundRect">
            <a:avLst>
              <a:gd name="adj" fmla="val 50000"/>
            </a:avLst>
          </a:prstGeom>
          <a:solidFill>
            <a:srgbClr val="333F70">
              <a:alpha val="50000"/>
            </a:srgbClr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36" name="Text 6"/>
          <p:cNvSpPr txBox="1"/>
          <p:nvPr/>
        </p:nvSpPr>
        <p:spPr>
          <a:xfrm>
            <a:off x="496119" y="4070225"/>
            <a:ext cx="8151763" cy="3846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lnSpc>
                <a:spcPct val="133000"/>
              </a:lnSpc>
              <a:defRPr b="1" sz="1100">
                <a:solidFill>
                  <a:srgbClr val="333F70"/>
                </a:solidFill>
                <a:latin typeface="Open Sans Bold"/>
                <a:ea typeface="Open Sans Bold"/>
                <a:cs typeface="Open Sans Bold"/>
                <a:sym typeface="Open Sans Bold"/>
              </a:defRPr>
            </a:pPr>
            <a:r>
              <a:t>Корлович Илья</a:t>
            </a:r>
            <a:r>
              <a:rPr b="0">
                <a:latin typeface="Open Sans"/>
                <a:ea typeface="Open Sans"/>
                <a:cs typeface="Open Sans"/>
                <a:sym typeface="Open Sans"/>
              </a:rPr>
              <a:t> — главный разработчик / геймдизайнер</a:t>
            </a:r>
          </a:p>
          <a:p>
            <a:pPr>
              <a:lnSpc>
                <a:spcPct val="133000"/>
              </a:lnSpc>
              <a:defRPr b="1" sz="1100">
                <a:solidFill>
                  <a:srgbClr val="333F70"/>
                </a:solidFill>
                <a:latin typeface="Open Sans Bold"/>
                <a:ea typeface="Open Sans Bold"/>
                <a:cs typeface="Open Sans Bold"/>
                <a:sym typeface="Open Sans Bold"/>
              </a:defRPr>
            </a:pPr>
            <a:r>
              <a:t>Безмен Максим</a:t>
            </a:r>
            <a:r>
              <a:rPr b="0">
                <a:latin typeface="Open Sans"/>
                <a:ea typeface="Open Sans"/>
                <a:cs typeface="Open Sans"/>
                <a:sym typeface="Open Sans"/>
              </a:rPr>
              <a:t> — технический разработчик / арт и UI</a:t>
            </a:r>
          </a:p>
        </p:txBody>
      </p:sp>
      <p:sp>
        <p:nvSpPr>
          <p:cNvPr id="37" name="Rectangle"/>
          <p:cNvSpPr/>
          <p:nvPr/>
        </p:nvSpPr>
        <p:spPr>
          <a:xfrm>
            <a:off x="7728708" y="4276512"/>
            <a:ext cx="1382118" cy="834800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9" rIns="45719" anchor="ctr"/>
          <a:lstStyle/>
          <a:p>
            <a:pPr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Shape 0"/>
          <p:cNvSpPr/>
          <p:nvPr/>
        </p:nvSpPr>
        <p:spPr>
          <a:xfrm>
            <a:off x="496118" y="843707"/>
            <a:ext cx="1182367" cy="215355"/>
          </a:xfrm>
          <a:prstGeom prst="roundRect">
            <a:avLst>
              <a:gd name="adj" fmla="val 22119"/>
            </a:avLst>
          </a:prstGeom>
          <a:ln w="4763">
            <a:solidFill>
              <a:srgbClr val="26A688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40" name="Text 1"/>
          <p:cNvSpPr txBox="1"/>
          <p:nvPr/>
        </p:nvSpPr>
        <p:spPr>
          <a:xfrm>
            <a:off x="581174" y="886196"/>
            <a:ext cx="973783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ct val="96000"/>
              </a:lnSpc>
              <a:defRPr sz="800">
                <a:solidFill>
                  <a:srgbClr val="26A688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</a:lstStyle>
          <a:p>
            <a:pPr/>
            <a:r>
              <a:t>ЦЕЛЬ И КОНТЕКСТ</a:t>
            </a:r>
          </a:p>
        </p:txBody>
      </p:sp>
      <p:sp>
        <p:nvSpPr>
          <p:cNvPr id="41" name="Text 2"/>
          <p:cNvSpPr txBox="1"/>
          <p:nvPr/>
        </p:nvSpPr>
        <p:spPr>
          <a:xfrm>
            <a:off x="496119" y="1115763"/>
            <a:ext cx="3707080" cy="406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ct val="104000"/>
              </a:lnSpc>
              <a:defRPr b="1" sz="2700">
                <a:solidFill>
                  <a:srgbClr val="333F70"/>
                </a:solidFill>
                <a:latin typeface="Unbounded Bold"/>
                <a:ea typeface="Unbounded Bold"/>
                <a:cs typeface="Unbounded Bold"/>
                <a:sym typeface="Unbounded Bold"/>
              </a:defRPr>
            </a:lvl1pPr>
          </a:lstStyle>
          <a:p>
            <a:pPr/>
            <a:r>
              <a:t>Зачем мы это делаем</a:t>
            </a:r>
          </a:p>
        </p:txBody>
      </p:sp>
      <p:sp>
        <p:nvSpPr>
          <p:cNvPr id="42" name="Text 3"/>
          <p:cNvSpPr txBox="1"/>
          <p:nvPr/>
        </p:nvSpPr>
        <p:spPr>
          <a:xfrm>
            <a:off x="496119" y="1771351"/>
            <a:ext cx="7581535" cy="165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ct val="133000"/>
              </a:lnSpc>
              <a:defRPr sz="1100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</a:lstStyle>
          <a:p>
            <a:pPr/>
            <a:r>
              <a:t>Разработка полнофункциональной roguelike-survivor игры — практический опыт в геймдеве и программировании.</a:t>
            </a:r>
          </a:p>
        </p:txBody>
      </p:sp>
      <p:sp>
        <p:nvSpPr>
          <p:cNvPr id="43" name="Shape 4"/>
          <p:cNvSpPr/>
          <p:nvPr/>
        </p:nvSpPr>
        <p:spPr>
          <a:xfrm>
            <a:off x="394022" y="2157635"/>
            <a:ext cx="4107135" cy="2142084"/>
          </a:xfrm>
          <a:prstGeom prst="roundRect">
            <a:avLst>
              <a:gd name="adj" fmla="val 4765"/>
            </a:avLst>
          </a:prstGeom>
          <a:solidFill>
            <a:srgbClr val="26A688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44" name="Text 5"/>
          <p:cNvSpPr txBox="1"/>
          <p:nvPr/>
        </p:nvSpPr>
        <p:spPr>
          <a:xfrm>
            <a:off x="535780" y="2299394"/>
            <a:ext cx="1800909" cy="203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ct val="104000"/>
              </a:lnSpc>
              <a:defRPr b="1" sz="1300">
                <a:latin typeface="Unbounded Bold"/>
                <a:ea typeface="Unbounded Bold"/>
                <a:cs typeface="Unbounded Bold"/>
                <a:sym typeface="Unbounded Bold"/>
              </a:defRPr>
            </a:lvl1pPr>
          </a:lstStyle>
          <a:p>
            <a:pPr/>
            <a:r>
              <a:t>Навыки и технологии</a:t>
            </a:r>
          </a:p>
        </p:txBody>
      </p:sp>
      <p:sp>
        <p:nvSpPr>
          <p:cNvPr id="45" name="Text 6"/>
          <p:cNvSpPr txBox="1"/>
          <p:nvPr/>
        </p:nvSpPr>
        <p:spPr>
          <a:xfrm>
            <a:off x="535780" y="2662609"/>
            <a:ext cx="3823620" cy="133231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/>
          <a:p>
            <a:pPr marL="223520" indent="-223520">
              <a:lnSpc>
                <a:spcPct val="133000"/>
              </a:lnSpc>
              <a:buSzPct val="100000"/>
              <a:buChar char="•"/>
              <a:defRPr b="1" sz="1100">
                <a:latin typeface="Open Sans Bold"/>
                <a:ea typeface="Open Sans Bold"/>
                <a:cs typeface="Open Sans Bold"/>
                <a:sym typeface="Open Sans Bold"/>
              </a:defRPr>
            </a:pPr>
            <a:r>
              <a:t>Python</a:t>
            </a:r>
            <a:r>
              <a:rPr b="0">
                <a:latin typeface="Open Sans"/>
                <a:ea typeface="Open Sans"/>
                <a:cs typeface="Open Sans"/>
                <a:sym typeface="Open Sans"/>
              </a:rPr>
              <a:t> — ООП, коллекции</a:t>
            </a:r>
          </a:p>
          <a:p>
            <a:pPr marL="223520" indent="-223520">
              <a:lnSpc>
                <a:spcPct val="133000"/>
              </a:lnSpc>
              <a:buSzPct val="100000"/>
              <a:buChar char="•"/>
              <a:defRPr b="1" sz="1100">
                <a:latin typeface="Open Sans Bold"/>
                <a:ea typeface="Open Sans Bold"/>
                <a:cs typeface="Open Sans Bold"/>
                <a:sym typeface="Open Sans Bold"/>
              </a:defRPr>
            </a:pPr>
            <a:r>
              <a:t>Pygame</a:t>
            </a:r>
            <a:r>
              <a:rPr b="0">
                <a:latin typeface="Open Sans"/>
                <a:ea typeface="Open Sans"/>
                <a:cs typeface="Open Sans"/>
                <a:sym typeface="Open Sans"/>
              </a:rPr>
              <a:t> — спрайты, анимации, коллизии</a:t>
            </a:r>
          </a:p>
          <a:p>
            <a:pPr marL="223520" indent="-223520">
              <a:lnSpc>
                <a:spcPct val="133000"/>
              </a:lnSpc>
              <a:buSzPct val="100000"/>
              <a:buChar char="•"/>
              <a:defRPr b="1" sz="1100">
                <a:latin typeface="Open Sans Bold"/>
                <a:ea typeface="Open Sans Bold"/>
                <a:cs typeface="Open Sans Bold"/>
                <a:sym typeface="Open Sans Bold"/>
              </a:defRPr>
            </a:pPr>
            <a:r>
              <a:t>Git</a:t>
            </a:r>
            <a:r>
              <a:rPr b="0">
                <a:latin typeface="Open Sans"/>
                <a:ea typeface="Open Sans"/>
                <a:cs typeface="Open Sans"/>
                <a:sym typeface="Open Sans"/>
              </a:rPr>
              <a:t> — контроль версий, совместная работа</a:t>
            </a:r>
          </a:p>
          <a:p>
            <a:pPr marL="223520" indent="-223520">
              <a:lnSpc>
                <a:spcPct val="133000"/>
              </a:lnSpc>
              <a:buSzPct val="100000"/>
              <a:buChar char="•"/>
              <a:defRPr b="1" sz="1100">
                <a:latin typeface="Open Sans Bold"/>
                <a:ea typeface="Open Sans Bold"/>
                <a:cs typeface="Open Sans Bold"/>
                <a:sym typeface="Open Sans Bold"/>
              </a:defRPr>
            </a:pPr>
            <a:r>
              <a:t>Архитектура</a:t>
            </a:r>
            <a:r>
              <a:rPr b="0">
                <a:latin typeface="Open Sans"/>
                <a:ea typeface="Open Sans"/>
                <a:cs typeface="Open Sans"/>
                <a:sym typeface="Open Sans"/>
              </a:rPr>
              <a:t> — модульность, FSM, MVC-паттерны</a:t>
            </a:r>
          </a:p>
          <a:p>
            <a:pPr marL="223520" indent="-223520">
              <a:lnSpc>
                <a:spcPct val="133000"/>
              </a:lnSpc>
              <a:buSzPct val="100000"/>
              <a:buChar char="•"/>
              <a:defRPr b="1" sz="1100">
                <a:latin typeface="Open Sans Bold"/>
                <a:ea typeface="Open Sans Bold"/>
                <a:cs typeface="Open Sans Bold"/>
                <a:sym typeface="Open Sans Bold"/>
              </a:defRPr>
            </a:pPr>
            <a:r>
              <a:t>Геймдизайн</a:t>
            </a:r>
            <a:r>
              <a:rPr b="0">
                <a:latin typeface="Open Sans"/>
                <a:ea typeface="Open Sans"/>
                <a:cs typeface="Open Sans"/>
                <a:sym typeface="Open Sans"/>
              </a:rPr>
              <a:t> — балансировка, прогрессия</a:t>
            </a:r>
          </a:p>
        </p:txBody>
      </p:sp>
      <p:sp>
        <p:nvSpPr>
          <p:cNvPr id="46" name="Text 7"/>
          <p:cNvSpPr txBox="1"/>
          <p:nvPr/>
        </p:nvSpPr>
        <p:spPr>
          <a:xfrm>
            <a:off x="4749701" y="2299394"/>
            <a:ext cx="1248693" cy="203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ct val="104000"/>
              </a:lnSpc>
              <a:defRPr b="1" sz="1300">
                <a:solidFill>
                  <a:srgbClr val="333F70"/>
                </a:solidFill>
                <a:latin typeface="Unbounded Bold"/>
                <a:ea typeface="Unbounded Bold"/>
                <a:cs typeface="Unbounded Bold"/>
                <a:sym typeface="Unbounded Bold"/>
              </a:defRPr>
            </a:lvl1pPr>
          </a:lstStyle>
          <a:p>
            <a:pPr/>
            <a:r>
              <a:t>Целевой игрок</a:t>
            </a:r>
          </a:p>
        </p:txBody>
      </p:sp>
      <p:sp>
        <p:nvSpPr>
          <p:cNvPr id="47" name="Text 8"/>
          <p:cNvSpPr txBox="1"/>
          <p:nvPr/>
        </p:nvSpPr>
        <p:spPr>
          <a:xfrm>
            <a:off x="4749701" y="2662609"/>
            <a:ext cx="3902944" cy="45362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lnSpc>
                <a:spcPct val="133000"/>
              </a:lnSpc>
              <a:defRPr sz="1100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</a:lstStyle>
          <a:p>
            <a:pPr/>
            <a:r>
              <a:t>Любители динамичных экшен-игр с элементами стратегии и прокачки.</a:t>
            </a:r>
          </a:p>
        </p:txBody>
      </p:sp>
      <p:sp>
        <p:nvSpPr>
          <p:cNvPr id="48" name="Text 9"/>
          <p:cNvSpPr txBox="1"/>
          <p:nvPr/>
        </p:nvSpPr>
        <p:spPr>
          <a:xfrm>
            <a:off x="4749701" y="3243783"/>
            <a:ext cx="3902944" cy="100637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/>
          <a:p>
            <a:pPr marL="223520" indent="-223520">
              <a:lnSpc>
                <a:spcPct val="133000"/>
              </a:lnSpc>
              <a:buSzPct val="100000"/>
              <a:buChar char="•"/>
              <a:defRPr b="1" sz="1100">
                <a:solidFill>
                  <a:srgbClr val="333F70"/>
                </a:solidFill>
                <a:latin typeface="Open Sans Bold"/>
                <a:ea typeface="Open Sans Bold"/>
                <a:cs typeface="Open Sans Bold"/>
                <a:sym typeface="Open Sans Bold"/>
              </a:defRPr>
            </a:pPr>
            <a:r>
              <a:t>Возраст:</a:t>
            </a:r>
            <a:r>
              <a:rPr b="0">
                <a:latin typeface="Open Sans"/>
                <a:ea typeface="Open Sans"/>
                <a:cs typeface="Open Sans"/>
                <a:sym typeface="Open Sans"/>
              </a:rPr>
              <a:t> 12–40 лет</a:t>
            </a:r>
          </a:p>
          <a:p>
            <a:pPr marL="223520" indent="-223520">
              <a:lnSpc>
                <a:spcPct val="133000"/>
              </a:lnSpc>
              <a:buSzPct val="100000"/>
              <a:buChar char="•"/>
              <a:defRPr b="1" sz="1100">
                <a:solidFill>
                  <a:srgbClr val="333F70"/>
                </a:solidFill>
                <a:latin typeface="Open Sans Bold"/>
                <a:ea typeface="Open Sans Bold"/>
                <a:cs typeface="Open Sans Bold"/>
                <a:sym typeface="Open Sans Bold"/>
              </a:defRPr>
            </a:pPr>
            <a:r>
              <a:t>Аудитория:</a:t>
            </a:r>
            <a:r>
              <a:rPr b="0">
                <a:latin typeface="Open Sans"/>
                <a:ea typeface="Open Sans"/>
                <a:cs typeface="Open Sans"/>
                <a:sym typeface="Open Sans"/>
              </a:rPr>
              <a:t> студенты, инди-геймеры, фанаты survivor-жанра</a:t>
            </a:r>
          </a:p>
          <a:p>
            <a:pPr marL="223520" indent="-223520">
              <a:lnSpc>
                <a:spcPct val="133000"/>
              </a:lnSpc>
              <a:buSzPct val="100000"/>
              <a:buChar char="•"/>
              <a:defRPr b="1" sz="1100">
                <a:solidFill>
                  <a:srgbClr val="333F70"/>
                </a:solidFill>
                <a:latin typeface="Open Sans Bold"/>
                <a:ea typeface="Open Sans Bold"/>
                <a:cs typeface="Open Sans Bold"/>
                <a:sym typeface="Open Sans Bold"/>
              </a:defRPr>
            </a:pPr>
            <a:r>
              <a:t>Платформа:</a:t>
            </a:r>
            <a:r>
              <a:rPr b="0">
                <a:latin typeface="Open Sans"/>
                <a:ea typeface="Open Sans"/>
                <a:cs typeface="Open Sans"/>
                <a:sym typeface="Open Sans"/>
              </a:rPr>
              <a:t> ПК (Windows, macOS, Linux)</a:t>
            </a:r>
          </a:p>
        </p:txBody>
      </p:sp>
      <p:sp>
        <p:nvSpPr>
          <p:cNvPr id="49" name="Rectangle"/>
          <p:cNvSpPr/>
          <p:nvPr/>
        </p:nvSpPr>
        <p:spPr>
          <a:xfrm>
            <a:off x="7728708" y="4276512"/>
            <a:ext cx="1382118" cy="834800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9" rIns="45719" anchor="ctr"/>
          <a:lstStyle/>
          <a:p>
            <a:pPr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0"/>
          <p:cNvSpPr/>
          <p:nvPr/>
        </p:nvSpPr>
        <p:spPr>
          <a:xfrm>
            <a:off x="496118" y="498127"/>
            <a:ext cx="798985" cy="195115"/>
          </a:xfrm>
          <a:prstGeom prst="roundRect">
            <a:avLst>
              <a:gd name="adj" fmla="val 22125"/>
            </a:avLst>
          </a:prstGeom>
          <a:solidFill>
            <a:srgbClr val="D6F5EE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52" name="Text 1"/>
          <p:cNvSpPr txBox="1"/>
          <p:nvPr/>
        </p:nvSpPr>
        <p:spPr>
          <a:xfrm>
            <a:off x="573137" y="536599"/>
            <a:ext cx="668685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ct val="96000"/>
              </a:lnSpc>
              <a:defRPr sz="800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</a:lstStyle>
          <a:p>
            <a:pPr/>
            <a:r>
              <a:t>КОНЦЕПЦИЯ</a:t>
            </a:r>
          </a:p>
        </p:txBody>
      </p:sp>
      <p:sp>
        <p:nvSpPr>
          <p:cNvPr id="53" name="Text 2"/>
          <p:cNvSpPr txBox="1"/>
          <p:nvPr/>
        </p:nvSpPr>
        <p:spPr>
          <a:xfrm>
            <a:off x="496119" y="739750"/>
            <a:ext cx="3606590" cy="381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ct val="104000"/>
              </a:lnSpc>
              <a:defRPr b="1" sz="2500">
                <a:solidFill>
                  <a:srgbClr val="333F70"/>
                </a:solidFill>
                <a:latin typeface="Unbounded Bold"/>
                <a:ea typeface="Unbounded Bold"/>
                <a:cs typeface="Unbounded Bold"/>
                <a:sym typeface="Unbounded Bold"/>
              </a:defRPr>
            </a:lvl1pPr>
          </a:lstStyle>
          <a:p>
            <a:pPr/>
            <a:r>
              <a:t>Что такое Auto Arsenal</a:t>
            </a:r>
          </a:p>
        </p:txBody>
      </p:sp>
      <p:sp>
        <p:nvSpPr>
          <p:cNvPr id="54" name="Text 3"/>
          <p:cNvSpPr txBox="1"/>
          <p:nvPr/>
        </p:nvSpPr>
        <p:spPr>
          <a:xfrm>
            <a:off x="496118" y="1432173"/>
            <a:ext cx="1612976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ct val="104000"/>
              </a:lnSpc>
              <a:defRPr b="1" sz="1200">
                <a:solidFill>
                  <a:srgbClr val="333F70"/>
                </a:solidFill>
                <a:latin typeface="Unbounded Bold"/>
                <a:ea typeface="Unbounded Bold"/>
                <a:cs typeface="Unbounded Bold"/>
                <a:sym typeface="Unbounded Bold"/>
              </a:defRPr>
            </a:lvl1pPr>
          </a:lstStyle>
          <a:p>
            <a:pPr/>
            <a:r>
              <a:t>Жанр и вдохновение</a:t>
            </a:r>
          </a:p>
        </p:txBody>
      </p:sp>
      <p:sp>
        <p:nvSpPr>
          <p:cNvPr id="55" name="Text 4"/>
          <p:cNvSpPr txBox="1"/>
          <p:nvPr/>
        </p:nvSpPr>
        <p:spPr>
          <a:xfrm>
            <a:off x="496118" y="1749250"/>
            <a:ext cx="3919167" cy="69257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/>
          <a:p>
            <a:pPr>
              <a:lnSpc>
                <a:spcPct val="127000"/>
              </a:lnSpc>
              <a:defRPr b="1" sz="1000">
                <a:solidFill>
                  <a:srgbClr val="333F70"/>
                </a:solidFill>
                <a:latin typeface="Open Sans Bold"/>
                <a:ea typeface="Open Sans Bold"/>
                <a:cs typeface="Open Sans Bold"/>
                <a:sym typeface="Open Sans Bold"/>
              </a:defRPr>
            </a:pPr>
            <a:r>
              <a:t>Roguelike-survivor</a:t>
            </a:r>
            <a:r>
              <a:rPr b="0">
                <a:latin typeface="Open Sans"/>
                <a:ea typeface="Open Sans"/>
                <a:cs typeface="Open Sans"/>
                <a:sym typeface="Open Sans"/>
              </a:rPr>
              <a:t> — экшен с волнами врагов, автоатакой и системой прогрессии.</a:t>
            </a:r>
          </a:p>
          <a:p>
            <a:pPr>
              <a:lnSpc>
                <a:spcPct val="127000"/>
              </a:lnSpc>
              <a:defRPr i="1" sz="1000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defRPr>
            </a:pPr>
            <a:r>
              <a:t>Вдохновлено:</a:t>
            </a:r>
            <a:r>
              <a:rPr i="0"/>
              <a:t> Vampire Survivors, Brotato, 20 Minutes Till Dawn</a:t>
            </a:r>
          </a:p>
        </p:txBody>
      </p:sp>
      <p:sp>
        <p:nvSpPr>
          <p:cNvPr id="56" name="Text 5"/>
          <p:cNvSpPr txBox="1"/>
          <p:nvPr/>
        </p:nvSpPr>
        <p:spPr>
          <a:xfrm>
            <a:off x="496118" y="2558207"/>
            <a:ext cx="613744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ct val="104000"/>
              </a:lnSpc>
              <a:defRPr b="1" sz="1200">
                <a:solidFill>
                  <a:srgbClr val="333F70"/>
                </a:solidFill>
                <a:latin typeface="Unbounded Bold"/>
                <a:ea typeface="Unbounded Bold"/>
                <a:cs typeface="Unbounded Bold"/>
                <a:sym typeface="Unbounded Bold"/>
              </a:defRPr>
            </a:lvl1pPr>
          </a:lstStyle>
          <a:p>
            <a:pPr/>
            <a:r>
              <a:t>Сеттинг</a:t>
            </a:r>
          </a:p>
        </p:txBody>
      </p:sp>
      <p:sp>
        <p:nvSpPr>
          <p:cNvPr id="57" name="Text 6"/>
          <p:cNvSpPr txBox="1"/>
          <p:nvPr/>
        </p:nvSpPr>
        <p:spPr>
          <a:xfrm>
            <a:off x="496118" y="2875284"/>
            <a:ext cx="3919167" cy="3918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lnSpc>
                <a:spcPct val="127000"/>
              </a:lnSpc>
              <a:defRPr sz="1000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</a:lstStyle>
          <a:p>
            <a:pPr/>
            <a:r>
              <a:t>Фэнтезийная арена: воин противостоит бесконечным волнам монстров — слаймы и орки разных уровней.</a:t>
            </a:r>
          </a:p>
        </p:txBody>
      </p:sp>
      <p:sp>
        <p:nvSpPr>
          <p:cNvPr id="58" name="Text 7"/>
          <p:cNvSpPr txBox="1"/>
          <p:nvPr/>
        </p:nvSpPr>
        <p:spPr>
          <a:xfrm>
            <a:off x="4733478" y="1432173"/>
            <a:ext cx="1595786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ct val="104000"/>
              </a:lnSpc>
              <a:defRPr b="1" sz="1200">
                <a:solidFill>
                  <a:srgbClr val="333F70"/>
                </a:solidFill>
                <a:latin typeface="Unbounded Bold"/>
                <a:ea typeface="Unbounded Bold"/>
                <a:cs typeface="Unbounded Bold"/>
                <a:sym typeface="Unbounded Bold"/>
              </a:defRPr>
            </a:lvl1pPr>
          </a:lstStyle>
          <a:p>
            <a:pPr/>
            <a:r>
              <a:t>Ключевые механики</a:t>
            </a:r>
          </a:p>
        </p:txBody>
      </p:sp>
      <p:pic>
        <p:nvPicPr>
          <p:cNvPr id="59" name="Image 0" descr="Image 0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4781624" y="1767780"/>
            <a:ext cx="192659" cy="192659"/>
          </a:xfrm>
          <a:prstGeom prst="rect">
            <a:avLst/>
          </a:prstGeom>
          <a:ln w="12700">
            <a:miter lim="400000"/>
          </a:ln>
        </p:spPr>
      </p:pic>
      <p:sp>
        <p:nvSpPr>
          <p:cNvPr id="60" name="Text 8"/>
          <p:cNvSpPr txBox="1"/>
          <p:nvPr/>
        </p:nvSpPr>
        <p:spPr>
          <a:xfrm>
            <a:off x="5150941" y="1763836"/>
            <a:ext cx="791741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ct val="104000"/>
              </a:lnSpc>
              <a:defRPr b="1" sz="1200">
                <a:solidFill>
                  <a:srgbClr val="333F70"/>
                </a:solidFill>
                <a:latin typeface="Unbounded Bold"/>
                <a:ea typeface="Unbounded Bold"/>
                <a:cs typeface="Unbounded Bold"/>
                <a:sym typeface="Unbounded Bold"/>
              </a:defRPr>
            </a:lvl1pPr>
          </a:lstStyle>
          <a:p>
            <a:pPr/>
            <a:r>
              <a:t>Движение</a:t>
            </a:r>
          </a:p>
        </p:txBody>
      </p:sp>
      <p:sp>
        <p:nvSpPr>
          <p:cNvPr id="61" name="Text 9"/>
          <p:cNvSpPr txBox="1"/>
          <p:nvPr/>
        </p:nvSpPr>
        <p:spPr>
          <a:xfrm>
            <a:off x="5150941" y="2080915"/>
            <a:ext cx="2361022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ct val="127000"/>
              </a:lnSpc>
              <a:defRPr sz="1000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</a:lstStyle>
          <a:p>
            <a:pPr/>
            <a:r>
              <a:t>Уклонение от врагов (WASD / стрелки)</a:t>
            </a:r>
          </a:p>
        </p:txBody>
      </p:sp>
      <p:pic>
        <p:nvPicPr>
          <p:cNvPr id="62" name="Image 1" descr="Image 1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4781624" y="2513633"/>
            <a:ext cx="192659" cy="192659"/>
          </a:xfrm>
          <a:prstGeom prst="rect">
            <a:avLst/>
          </a:prstGeom>
          <a:ln w="12700">
            <a:miter lim="400000"/>
          </a:ln>
        </p:spPr>
      </p:pic>
      <p:sp>
        <p:nvSpPr>
          <p:cNvPr id="63" name="Text 10"/>
          <p:cNvSpPr txBox="1"/>
          <p:nvPr/>
        </p:nvSpPr>
        <p:spPr>
          <a:xfrm>
            <a:off x="5150941" y="2509689"/>
            <a:ext cx="806624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ct val="104000"/>
              </a:lnSpc>
              <a:defRPr b="1" sz="1200">
                <a:solidFill>
                  <a:srgbClr val="333F70"/>
                </a:solidFill>
                <a:latin typeface="Unbounded Bold"/>
                <a:ea typeface="Unbounded Bold"/>
                <a:cs typeface="Unbounded Bold"/>
                <a:sym typeface="Unbounded Bold"/>
              </a:defRPr>
            </a:lvl1pPr>
          </a:lstStyle>
          <a:p>
            <a:pPr/>
            <a:r>
              <a:t>Автоатака</a:t>
            </a:r>
          </a:p>
        </p:txBody>
      </p:sp>
      <p:sp>
        <p:nvSpPr>
          <p:cNvPr id="64" name="Text 11"/>
          <p:cNvSpPr txBox="1"/>
          <p:nvPr/>
        </p:nvSpPr>
        <p:spPr>
          <a:xfrm>
            <a:off x="5150941" y="2826766"/>
            <a:ext cx="3426942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ct val="127000"/>
              </a:lnSpc>
              <a:defRPr sz="1000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</a:lstStyle>
          <a:p>
            <a:pPr/>
            <a:r>
              <a:t>Персонаж стреляет в ближайшего врага каждые 0.9 сек</a:t>
            </a:r>
          </a:p>
        </p:txBody>
      </p:sp>
      <p:pic>
        <p:nvPicPr>
          <p:cNvPr id="65" name="Image 2" descr="Image 2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4781624" y="3259485"/>
            <a:ext cx="192659" cy="192659"/>
          </a:xfrm>
          <a:prstGeom prst="rect">
            <a:avLst/>
          </a:prstGeom>
          <a:ln w="12700">
            <a:miter lim="400000"/>
          </a:ln>
        </p:spPr>
      </p:pic>
      <p:sp>
        <p:nvSpPr>
          <p:cNvPr id="66" name="Text 12"/>
          <p:cNvSpPr txBox="1"/>
          <p:nvPr/>
        </p:nvSpPr>
        <p:spPr>
          <a:xfrm>
            <a:off x="5150941" y="3255540"/>
            <a:ext cx="914301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ct val="104000"/>
              </a:lnSpc>
              <a:defRPr b="1" sz="1200">
                <a:solidFill>
                  <a:srgbClr val="333F70"/>
                </a:solidFill>
                <a:latin typeface="Unbounded Bold"/>
                <a:ea typeface="Unbounded Bold"/>
                <a:cs typeface="Unbounded Bold"/>
                <a:sym typeface="Unbounded Bold"/>
              </a:defRPr>
            </a:lvl1pPr>
          </a:lstStyle>
          <a:p>
            <a:pPr/>
            <a:r>
              <a:t>Сбор опыта</a:t>
            </a:r>
          </a:p>
        </p:txBody>
      </p:sp>
      <p:sp>
        <p:nvSpPr>
          <p:cNvPr id="67" name="Text 13"/>
          <p:cNvSpPr txBox="1"/>
          <p:nvPr/>
        </p:nvSpPr>
        <p:spPr>
          <a:xfrm>
            <a:off x="5150941" y="3572619"/>
            <a:ext cx="2065040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ct val="127000"/>
              </a:lnSpc>
              <a:defRPr sz="1000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</a:lstStyle>
          <a:p>
            <a:pPr/>
            <a:r>
              <a:t>Дропы с магнитом (радиус 160 px)</a:t>
            </a:r>
          </a:p>
        </p:txBody>
      </p:sp>
      <p:pic>
        <p:nvPicPr>
          <p:cNvPr id="68" name="Image 3" descr="Image 3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4781624" y="4005336"/>
            <a:ext cx="192659" cy="192659"/>
          </a:xfrm>
          <a:prstGeom prst="rect">
            <a:avLst/>
          </a:prstGeom>
          <a:ln w="12700">
            <a:miter lim="400000"/>
          </a:ln>
        </p:spPr>
      </p:pic>
      <p:sp>
        <p:nvSpPr>
          <p:cNvPr id="69" name="Text 14"/>
          <p:cNvSpPr txBox="1"/>
          <p:nvPr/>
        </p:nvSpPr>
        <p:spPr>
          <a:xfrm>
            <a:off x="5150941" y="4001392"/>
            <a:ext cx="749549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ct val="104000"/>
              </a:lnSpc>
              <a:defRPr b="1" sz="1200">
                <a:solidFill>
                  <a:srgbClr val="333F70"/>
                </a:solidFill>
                <a:latin typeface="Unbounded Bold"/>
                <a:ea typeface="Unbounded Bold"/>
                <a:cs typeface="Unbounded Bold"/>
                <a:sym typeface="Unbounded Bold"/>
              </a:defRPr>
            </a:lvl1pPr>
          </a:lstStyle>
          <a:p>
            <a:pPr/>
            <a:r>
              <a:t>Прокачка</a:t>
            </a:r>
          </a:p>
        </p:txBody>
      </p:sp>
      <p:sp>
        <p:nvSpPr>
          <p:cNvPr id="70" name="Text 15"/>
          <p:cNvSpPr txBox="1"/>
          <p:nvPr/>
        </p:nvSpPr>
        <p:spPr>
          <a:xfrm>
            <a:off x="5150941" y="4318470"/>
            <a:ext cx="2427685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ct val="127000"/>
              </a:lnSpc>
              <a:defRPr sz="1000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</a:lstStyle>
          <a:p>
            <a:pPr/>
            <a:r>
              <a:t>Выбор усилений при повышении уровня</a:t>
            </a:r>
          </a:p>
        </p:txBody>
      </p:sp>
      <p:sp>
        <p:nvSpPr>
          <p:cNvPr id="71" name="Rectangle"/>
          <p:cNvSpPr/>
          <p:nvPr/>
        </p:nvSpPr>
        <p:spPr>
          <a:xfrm>
            <a:off x="8019377" y="4418739"/>
            <a:ext cx="1091448" cy="692573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9" rIns="45719" anchor="ctr"/>
          <a:lstStyle/>
          <a:p>
            <a:pPr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Shape 0"/>
          <p:cNvSpPr/>
          <p:nvPr/>
        </p:nvSpPr>
        <p:spPr>
          <a:xfrm>
            <a:off x="496118" y="547018"/>
            <a:ext cx="951163" cy="215355"/>
          </a:xfrm>
          <a:prstGeom prst="roundRect">
            <a:avLst>
              <a:gd name="adj" fmla="val 22119"/>
            </a:avLst>
          </a:prstGeom>
          <a:solidFill>
            <a:srgbClr val="D6F5EE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74" name="Text 1"/>
          <p:cNvSpPr txBox="1"/>
          <p:nvPr/>
        </p:nvSpPr>
        <p:spPr>
          <a:xfrm>
            <a:off x="581174" y="589508"/>
            <a:ext cx="719138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ct val="96000"/>
              </a:lnSpc>
              <a:defRPr sz="800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</a:lstStyle>
          <a:p>
            <a:pPr/>
            <a:r>
              <a:t>ГЕЙМДИЗАЙН</a:t>
            </a:r>
          </a:p>
        </p:txBody>
      </p:sp>
      <p:sp>
        <p:nvSpPr>
          <p:cNvPr id="75" name="Text 2"/>
          <p:cNvSpPr txBox="1"/>
          <p:nvPr/>
        </p:nvSpPr>
        <p:spPr>
          <a:xfrm>
            <a:off x="496119" y="819075"/>
            <a:ext cx="3870158" cy="406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ct val="104000"/>
              </a:lnSpc>
              <a:defRPr b="1" sz="2700">
                <a:solidFill>
                  <a:srgbClr val="333F70"/>
                </a:solidFill>
                <a:latin typeface="Unbounded Bold"/>
                <a:ea typeface="Unbounded Bold"/>
                <a:cs typeface="Unbounded Bold"/>
                <a:sym typeface="Unbounded Bold"/>
              </a:defRPr>
            </a:lvl1pPr>
          </a:lstStyle>
          <a:p>
            <a:pPr/>
            <a:r>
              <a:t>Правила и прогрессия</a:t>
            </a:r>
          </a:p>
        </p:txBody>
      </p:sp>
      <p:sp>
        <p:nvSpPr>
          <p:cNvPr id="76" name="Text 3"/>
          <p:cNvSpPr txBox="1"/>
          <p:nvPr/>
        </p:nvSpPr>
        <p:spPr>
          <a:xfrm>
            <a:off x="496118" y="1616421"/>
            <a:ext cx="1596791" cy="203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ct val="104000"/>
              </a:lnSpc>
              <a:defRPr b="1" sz="1300">
                <a:solidFill>
                  <a:srgbClr val="333F70"/>
                </a:solidFill>
                <a:latin typeface="Unbounded Bold"/>
                <a:ea typeface="Unbounded Bold"/>
                <a:cs typeface="Unbounded Bold"/>
                <a:sym typeface="Unbounded Bold"/>
              </a:defRPr>
            </a:lvl1pPr>
          </a:lstStyle>
          <a:p>
            <a:pPr/>
            <a:r>
              <a:t>Основные правила</a:t>
            </a:r>
          </a:p>
        </p:txBody>
      </p:sp>
      <p:sp>
        <p:nvSpPr>
          <p:cNvPr id="77" name="Text 4"/>
          <p:cNvSpPr txBox="1"/>
          <p:nvPr/>
        </p:nvSpPr>
        <p:spPr>
          <a:xfrm>
            <a:off x="496118" y="1979636"/>
            <a:ext cx="3902945" cy="10063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/>
          <a:p>
            <a:pPr marL="223520" indent="-223520">
              <a:lnSpc>
                <a:spcPct val="133000"/>
              </a:lnSpc>
              <a:buSzPct val="100000"/>
              <a:buChar char="•"/>
              <a:defRPr b="1" sz="1100">
                <a:solidFill>
                  <a:srgbClr val="333F70"/>
                </a:solidFill>
                <a:latin typeface="Open Sans Bold"/>
                <a:ea typeface="Open Sans Bold"/>
                <a:cs typeface="Open Sans Bold"/>
                <a:sym typeface="Open Sans Bold"/>
              </a:defRPr>
            </a:pPr>
            <a:r>
              <a:t>Цель:</a:t>
            </a:r>
            <a:r>
              <a:rPr b="0">
                <a:latin typeface="Open Sans"/>
                <a:ea typeface="Open Sans"/>
                <a:cs typeface="Open Sans"/>
                <a:sym typeface="Open Sans"/>
              </a:rPr>
              <a:t> продержаться максимально долго, набрать максимум убийств</a:t>
            </a:r>
          </a:p>
          <a:p>
            <a:pPr marL="223520" indent="-223520">
              <a:lnSpc>
                <a:spcPct val="133000"/>
              </a:lnSpc>
              <a:buSzPct val="100000"/>
              <a:buChar char="•"/>
              <a:defRPr b="1" sz="1100">
                <a:solidFill>
                  <a:srgbClr val="333F70"/>
                </a:solidFill>
                <a:latin typeface="Open Sans Bold"/>
                <a:ea typeface="Open Sans Bold"/>
                <a:cs typeface="Open Sans Bold"/>
                <a:sym typeface="Open Sans Bold"/>
              </a:defRPr>
            </a:pPr>
            <a:r>
              <a:t>Ограничение:</a:t>
            </a:r>
            <a:r>
              <a:rPr b="0">
                <a:latin typeface="Open Sans"/>
                <a:ea typeface="Open Sans"/>
                <a:cs typeface="Open Sans"/>
                <a:sym typeface="Open Sans"/>
              </a:rPr>
              <a:t> 100 HP, бесконечные волны</a:t>
            </a:r>
          </a:p>
          <a:p>
            <a:pPr marL="223520" indent="-223520">
              <a:lnSpc>
                <a:spcPct val="133000"/>
              </a:lnSpc>
              <a:buSzPct val="100000"/>
              <a:buChar char="•"/>
              <a:defRPr b="1" sz="1100">
                <a:solidFill>
                  <a:srgbClr val="333F70"/>
                </a:solidFill>
                <a:latin typeface="Open Sans Bold"/>
                <a:ea typeface="Open Sans Bold"/>
                <a:cs typeface="Open Sans Bold"/>
                <a:sym typeface="Open Sans Bold"/>
              </a:defRPr>
            </a:pPr>
            <a:r>
              <a:t>Поражение:</a:t>
            </a:r>
            <a:r>
              <a:rPr b="0">
                <a:latin typeface="Open Sans"/>
                <a:ea typeface="Open Sans"/>
                <a:cs typeface="Open Sans"/>
                <a:sym typeface="Open Sans"/>
              </a:rPr>
              <a:t> HP ≤ 0 → Game Over</a:t>
            </a:r>
          </a:p>
        </p:txBody>
      </p:sp>
      <p:sp>
        <p:nvSpPr>
          <p:cNvPr id="78" name="Text 5"/>
          <p:cNvSpPr txBox="1"/>
          <p:nvPr/>
        </p:nvSpPr>
        <p:spPr>
          <a:xfrm>
            <a:off x="496118" y="3127772"/>
            <a:ext cx="2140782" cy="203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ct val="104000"/>
              </a:lnSpc>
              <a:defRPr b="1" sz="1300">
                <a:solidFill>
                  <a:srgbClr val="333F70"/>
                </a:solidFill>
                <a:latin typeface="Unbounded Bold"/>
                <a:ea typeface="Unbounded Bold"/>
                <a:cs typeface="Unbounded Bold"/>
                <a:sym typeface="Unbounded Bold"/>
              </a:defRPr>
            </a:lvl1pPr>
          </a:lstStyle>
          <a:p>
            <a:pPr/>
            <a:r>
              <a:t>Типичный эпизод (40 сек)</a:t>
            </a:r>
          </a:p>
        </p:txBody>
      </p:sp>
      <p:sp>
        <p:nvSpPr>
          <p:cNvPr id="79" name="Text 6"/>
          <p:cNvSpPr txBox="1"/>
          <p:nvPr/>
        </p:nvSpPr>
        <p:spPr>
          <a:xfrm>
            <a:off x="496118" y="3490986"/>
            <a:ext cx="3902945" cy="10559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/>
          <a:p>
            <a:pPr marL="223520" indent="-223520">
              <a:lnSpc>
                <a:spcPct val="133000"/>
              </a:lnSpc>
              <a:buSzPct val="100000"/>
              <a:buAutoNum type="arabicPeriod" startAt="1"/>
              <a:defRPr sz="1100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defRPr>
            </a:pPr>
            <a:r>
              <a:t>Спавн волны → игрок уклоняется и кайтит</a:t>
            </a:r>
          </a:p>
          <a:p>
            <a:pPr marL="223520" indent="-223520">
              <a:lnSpc>
                <a:spcPct val="133000"/>
              </a:lnSpc>
              <a:buSzPct val="100000"/>
              <a:buAutoNum type="arabicPeriod" startAt="2"/>
              <a:defRPr sz="1100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defRPr>
            </a:pPr>
            <a:r>
              <a:t>Автоатака убивает → дроп XP и аптечек</a:t>
            </a:r>
          </a:p>
          <a:p>
            <a:pPr marL="223520" indent="-223520">
              <a:lnSpc>
                <a:spcPct val="133000"/>
              </a:lnSpc>
              <a:buSzPct val="100000"/>
              <a:buAutoNum type="arabicPeriod" startAt="3"/>
              <a:defRPr sz="1100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defRPr>
            </a:pPr>
            <a:r>
              <a:t>Level Up → выбор усиления</a:t>
            </a:r>
          </a:p>
          <a:p>
            <a:pPr marL="223520" indent="-223520">
              <a:lnSpc>
                <a:spcPct val="133000"/>
              </a:lnSpc>
              <a:buSzPct val="100000"/>
              <a:buAutoNum type="arabicPeriod" startAt="4"/>
              <a:defRPr sz="1100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defRPr>
            </a:pPr>
            <a:r>
              <a:t>Следующая волна — сильнее и плотнее</a:t>
            </a:r>
          </a:p>
        </p:txBody>
      </p:sp>
      <p:sp>
        <p:nvSpPr>
          <p:cNvPr id="80" name="Text 7"/>
          <p:cNvSpPr txBox="1"/>
          <p:nvPr/>
        </p:nvSpPr>
        <p:spPr>
          <a:xfrm>
            <a:off x="4749701" y="1616421"/>
            <a:ext cx="2272023" cy="203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ct val="104000"/>
              </a:lnSpc>
              <a:defRPr b="1" sz="1300">
                <a:solidFill>
                  <a:srgbClr val="333F70"/>
                </a:solidFill>
                <a:latin typeface="Unbounded Bold"/>
                <a:ea typeface="Unbounded Bold"/>
                <a:cs typeface="Unbounded Bold"/>
                <a:sym typeface="Unbounded Bold"/>
              </a:defRPr>
            </a:lvl1pPr>
          </a:lstStyle>
          <a:p>
            <a:pPr/>
            <a:r>
              <a:t>Рост сложности по волнам</a:t>
            </a:r>
          </a:p>
        </p:txBody>
      </p:sp>
      <p:sp>
        <p:nvSpPr>
          <p:cNvPr id="81" name="Shape 8"/>
          <p:cNvSpPr/>
          <p:nvPr/>
        </p:nvSpPr>
        <p:spPr>
          <a:xfrm>
            <a:off x="4749701" y="1997348"/>
            <a:ext cx="3902944" cy="1649611"/>
          </a:xfrm>
          <a:prstGeom prst="roundRect">
            <a:avLst>
              <a:gd name="adj" fmla="val 3609"/>
            </a:avLst>
          </a:prstGeom>
          <a:ln w="4763">
            <a:solidFill>
              <a:srgbClr val="000000">
                <a:alpha val="8000"/>
              </a:srgbClr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82" name="Shape 9"/>
          <p:cNvSpPr/>
          <p:nvPr/>
        </p:nvSpPr>
        <p:spPr>
          <a:xfrm>
            <a:off x="4749701" y="2409020"/>
            <a:ext cx="3902944" cy="12701"/>
          </a:xfrm>
          <a:prstGeom prst="rect">
            <a:avLst/>
          </a:prstGeom>
          <a:solidFill>
            <a:srgbClr val="000000">
              <a:alpha val="8000"/>
            </a:srgbClr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83" name="Shape 10"/>
          <p:cNvSpPr/>
          <p:nvPr/>
        </p:nvSpPr>
        <p:spPr>
          <a:xfrm>
            <a:off x="4749701" y="2820232"/>
            <a:ext cx="3902944" cy="12701"/>
          </a:xfrm>
          <a:prstGeom prst="rect">
            <a:avLst/>
          </a:prstGeom>
          <a:solidFill>
            <a:srgbClr val="000000">
              <a:alpha val="8000"/>
            </a:srgbClr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84" name="Shape 11"/>
          <p:cNvSpPr/>
          <p:nvPr/>
        </p:nvSpPr>
        <p:spPr>
          <a:xfrm>
            <a:off x="4749701" y="3231445"/>
            <a:ext cx="3902944" cy="12701"/>
          </a:xfrm>
          <a:prstGeom prst="rect">
            <a:avLst/>
          </a:prstGeom>
          <a:solidFill>
            <a:srgbClr val="000000">
              <a:alpha val="8000"/>
            </a:srgbClr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85" name="Text 12"/>
          <p:cNvSpPr txBox="1"/>
          <p:nvPr/>
        </p:nvSpPr>
        <p:spPr>
          <a:xfrm>
            <a:off x="4896742" y="2091927"/>
            <a:ext cx="453220" cy="165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ct val="133000"/>
              </a:lnSpc>
              <a:defRPr b="1" sz="1100">
                <a:solidFill>
                  <a:srgbClr val="333F70"/>
                </a:solidFill>
                <a:latin typeface="Open Sans Bold"/>
                <a:ea typeface="Open Sans Bold"/>
                <a:cs typeface="Open Sans Bold"/>
                <a:sym typeface="Open Sans Bold"/>
              </a:defRPr>
            </a:lvl1pPr>
          </a:lstStyle>
          <a:p>
            <a:pPr/>
            <a:r>
              <a:t>Волна</a:t>
            </a:r>
          </a:p>
        </p:txBody>
      </p:sp>
      <p:sp>
        <p:nvSpPr>
          <p:cNvPr id="86" name="Text 13"/>
          <p:cNvSpPr txBox="1"/>
          <p:nvPr/>
        </p:nvSpPr>
        <p:spPr>
          <a:xfrm>
            <a:off x="6194226" y="2091927"/>
            <a:ext cx="507381" cy="165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ct val="133000"/>
              </a:lnSpc>
              <a:defRPr b="1" sz="1100">
                <a:solidFill>
                  <a:srgbClr val="333F70"/>
                </a:solidFill>
                <a:latin typeface="Open Sans Bold"/>
                <a:ea typeface="Open Sans Bold"/>
                <a:cs typeface="Open Sans Bold"/>
                <a:sym typeface="Open Sans Bold"/>
              </a:defRPr>
            </a:lvl1pPr>
          </a:lstStyle>
          <a:p>
            <a:pPr/>
            <a:r>
              <a:t>Врагов</a:t>
            </a:r>
          </a:p>
        </p:txBody>
      </p:sp>
      <p:sp>
        <p:nvSpPr>
          <p:cNvPr id="87" name="Text 14"/>
          <p:cNvSpPr txBox="1"/>
          <p:nvPr/>
        </p:nvSpPr>
        <p:spPr>
          <a:xfrm>
            <a:off x="7491710" y="2091927"/>
            <a:ext cx="268840" cy="165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ct val="133000"/>
              </a:lnSpc>
              <a:defRPr b="1" sz="1100">
                <a:solidFill>
                  <a:srgbClr val="333F70"/>
                </a:solidFill>
                <a:latin typeface="Open Sans Bold"/>
                <a:ea typeface="Open Sans Bold"/>
                <a:cs typeface="Open Sans Bold"/>
                <a:sym typeface="Open Sans Bold"/>
              </a:defRPr>
            </a:lvl1pPr>
          </a:lstStyle>
          <a:p>
            <a:pPr/>
            <a:r>
              <a:t>Тип</a:t>
            </a:r>
          </a:p>
        </p:txBody>
      </p:sp>
      <p:sp>
        <p:nvSpPr>
          <p:cNvPr id="88" name="Text 15"/>
          <p:cNvSpPr txBox="1"/>
          <p:nvPr/>
        </p:nvSpPr>
        <p:spPr>
          <a:xfrm>
            <a:off x="4896742" y="2503140"/>
            <a:ext cx="127001" cy="165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ct val="133000"/>
              </a:lnSpc>
              <a:defRPr sz="1100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</a:lstStyle>
          <a:p>
            <a:pPr/>
            <a:r>
              <a:t>1</a:t>
            </a:r>
          </a:p>
        </p:txBody>
      </p:sp>
      <p:sp>
        <p:nvSpPr>
          <p:cNvPr id="89" name="Text 16"/>
          <p:cNvSpPr txBox="1"/>
          <p:nvPr/>
        </p:nvSpPr>
        <p:spPr>
          <a:xfrm>
            <a:off x="6194226" y="2503140"/>
            <a:ext cx="127001" cy="165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ct val="133000"/>
              </a:lnSpc>
              <a:defRPr sz="1100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</a:lstStyle>
          <a:p>
            <a:pPr/>
            <a:r>
              <a:t>5</a:t>
            </a:r>
          </a:p>
        </p:txBody>
      </p:sp>
      <p:sp>
        <p:nvSpPr>
          <p:cNvPr id="90" name="Text 17"/>
          <p:cNvSpPr txBox="1"/>
          <p:nvPr/>
        </p:nvSpPr>
        <p:spPr>
          <a:xfrm>
            <a:off x="7491710" y="2503140"/>
            <a:ext cx="765771" cy="165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ct val="133000"/>
              </a:lnSpc>
              <a:defRPr sz="1100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</a:lstStyle>
          <a:p>
            <a:pPr/>
            <a:r>
              <a:t>slime1, orc1</a:t>
            </a:r>
          </a:p>
        </p:txBody>
      </p:sp>
      <p:sp>
        <p:nvSpPr>
          <p:cNvPr id="91" name="Text 18"/>
          <p:cNvSpPr txBox="1"/>
          <p:nvPr/>
        </p:nvSpPr>
        <p:spPr>
          <a:xfrm>
            <a:off x="4896742" y="2914351"/>
            <a:ext cx="127001" cy="165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ct val="133000"/>
              </a:lnSpc>
              <a:defRPr sz="1100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</a:lstStyle>
          <a:p>
            <a:pPr/>
            <a:r>
              <a:t>4</a:t>
            </a:r>
          </a:p>
        </p:txBody>
      </p:sp>
      <p:sp>
        <p:nvSpPr>
          <p:cNvPr id="92" name="Text 19"/>
          <p:cNvSpPr txBox="1"/>
          <p:nvPr/>
        </p:nvSpPr>
        <p:spPr>
          <a:xfrm>
            <a:off x="6194226" y="2914351"/>
            <a:ext cx="168090" cy="165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ct val="133000"/>
              </a:lnSpc>
              <a:defRPr sz="1100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</a:lstStyle>
          <a:p>
            <a:pPr/>
            <a:r>
              <a:t>14</a:t>
            </a:r>
          </a:p>
        </p:txBody>
      </p:sp>
      <p:sp>
        <p:nvSpPr>
          <p:cNvPr id="93" name="Text 20"/>
          <p:cNvSpPr txBox="1"/>
          <p:nvPr/>
        </p:nvSpPr>
        <p:spPr>
          <a:xfrm>
            <a:off x="7491710" y="2914351"/>
            <a:ext cx="765771" cy="165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ct val="133000"/>
              </a:lnSpc>
              <a:defRPr sz="1100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</a:lstStyle>
          <a:p>
            <a:pPr/>
            <a:r>
              <a:t>slime2, orc2</a:t>
            </a:r>
          </a:p>
        </p:txBody>
      </p:sp>
      <p:sp>
        <p:nvSpPr>
          <p:cNvPr id="94" name="Text 21"/>
          <p:cNvSpPr txBox="1"/>
          <p:nvPr/>
        </p:nvSpPr>
        <p:spPr>
          <a:xfrm>
            <a:off x="4896742" y="3325564"/>
            <a:ext cx="171979" cy="165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ct val="133000"/>
              </a:lnSpc>
              <a:defRPr sz="1100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</a:lstStyle>
          <a:p>
            <a:pPr/>
            <a:r>
              <a:t>8+</a:t>
            </a:r>
          </a:p>
        </p:txBody>
      </p:sp>
      <p:sp>
        <p:nvSpPr>
          <p:cNvPr id="95" name="Text 22"/>
          <p:cNvSpPr txBox="1"/>
          <p:nvPr/>
        </p:nvSpPr>
        <p:spPr>
          <a:xfrm>
            <a:off x="6194226" y="3325564"/>
            <a:ext cx="249673" cy="165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ct val="133000"/>
              </a:lnSpc>
              <a:defRPr sz="1100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</a:lstStyle>
          <a:p>
            <a:pPr/>
            <a:r>
              <a:t>26+</a:t>
            </a:r>
          </a:p>
        </p:txBody>
      </p:sp>
      <p:sp>
        <p:nvSpPr>
          <p:cNvPr id="96" name="Text 23"/>
          <p:cNvSpPr txBox="1"/>
          <p:nvPr/>
        </p:nvSpPr>
        <p:spPr>
          <a:xfrm>
            <a:off x="7491710" y="3325564"/>
            <a:ext cx="765771" cy="165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ct val="133000"/>
              </a:lnSpc>
              <a:defRPr sz="1100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</a:lstStyle>
          <a:p>
            <a:pPr/>
            <a:r>
              <a:t>slime3, orc3</a:t>
            </a:r>
          </a:p>
        </p:txBody>
      </p:sp>
      <p:sp>
        <p:nvSpPr>
          <p:cNvPr id="97" name="Text 24"/>
          <p:cNvSpPr txBox="1"/>
          <p:nvPr/>
        </p:nvSpPr>
        <p:spPr>
          <a:xfrm>
            <a:off x="4749701" y="3806428"/>
            <a:ext cx="3902944" cy="45362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/>
          <a:p>
            <a:pPr>
              <a:lnSpc>
                <a:spcPct val="133000"/>
              </a:lnSpc>
              <a:defRPr sz="1100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defRPr>
            </a:pPr>
            <a:r>
              <a:t>Враги получают </a:t>
            </a:r>
            <a:r>
              <a:rPr b="1">
                <a:latin typeface="Open Sans Bold"/>
                <a:ea typeface="Open Sans Bold"/>
                <a:cs typeface="Open Sans Bold"/>
                <a:sym typeface="Open Sans Bold"/>
              </a:rPr>
              <a:t>+6% HP</a:t>
            </a:r>
            <a:r>
              <a:t> и </a:t>
            </a:r>
            <a:r>
              <a:rPr b="1">
                <a:latin typeface="Open Sans Bold"/>
                <a:ea typeface="Open Sans Bold"/>
                <a:cs typeface="Open Sans Bold"/>
                <a:sym typeface="Open Sans Bold"/>
              </a:rPr>
              <a:t>+4% урона</a:t>
            </a:r>
            <a:r>
              <a:t> за каждую волну. Система взвешивания постепенно вводит новые типы.</a:t>
            </a:r>
          </a:p>
        </p:txBody>
      </p:sp>
      <p:sp>
        <p:nvSpPr>
          <p:cNvPr id="98" name="Rectangle"/>
          <p:cNvSpPr/>
          <p:nvPr/>
        </p:nvSpPr>
        <p:spPr>
          <a:xfrm>
            <a:off x="7829123" y="4412048"/>
            <a:ext cx="1281703" cy="699264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9" rIns="45719" anchor="ctr"/>
          <a:lstStyle/>
          <a:p>
            <a:pPr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Shape 0"/>
          <p:cNvSpPr/>
          <p:nvPr/>
        </p:nvSpPr>
        <p:spPr>
          <a:xfrm>
            <a:off x="496118" y="389855"/>
            <a:ext cx="533103" cy="107604"/>
          </a:xfrm>
          <a:prstGeom prst="roundRect">
            <a:avLst>
              <a:gd name="adj" fmla="val 22134"/>
            </a:avLst>
          </a:prstGeom>
          <a:ln w="4763">
            <a:solidFill>
              <a:srgbClr val="26A688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01" name="Text 1"/>
          <p:cNvSpPr txBox="1"/>
          <p:nvPr/>
        </p:nvSpPr>
        <p:spPr>
          <a:xfrm>
            <a:off x="538608" y="411062"/>
            <a:ext cx="415976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ct val="96000"/>
              </a:lnSpc>
              <a:defRPr sz="400">
                <a:solidFill>
                  <a:srgbClr val="26A688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</a:lstStyle>
          <a:p>
            <a:pPr/>
            <a:r>
              <a:t>ИГРОВОЙ ЦИКЛ</a:t>
            </a:r>
          </a:p>
        </p:txBody>
      </p:sp>
      <p:sp>
        <p:nvSpPr>
          <p:cNvPr id="102" name="Text 2"/>
          <p:cNvSpPr txBox="1"/>
          <p:nvPr/>
        </p:nvSpPr>
        <p:spPr>
          <a:xfrm>
            <a:off x="496119" y="511597"/>
            <a:ext cx="1358894" cy="203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ct val="104000"/>
              </a:lnSpc>
              <a:defRPr b="1" sz="1300">
                <a:solidFill>
                  <a:srgbClr val="333F70"/>
                </a:solidFill>
                <a:latin typeface="Unbounded Bold"/>
                <a:ea typeface="Unbounded Bold"/>
                <a:cs typeface="Unbounded Bold"/>
                <a:sym typeface="Unbounded Bold"/>
              </a:defRPr>
            </a:lvl1pPr>
          </a:lstStyle>
          <a:p>
            <a:pPr/>
            <a:r>
              <a:t>Схема геймплея</a:t>
            </a:r>
          </a:p>
        </p:txBody>
      </p:sp>
      <p:pic>
        <p:nvPicPr>
          <p:cNvPr id="103" name="Image 0" descr="Image 0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496118" y="786185"/>
            <a:ext cx="7315201" cy="4114801"/>
          </a:xfrm>
          <a:prstGeom prst="rect">
            <a:avLst/>
          </a:prstGeom>
          <a:ln w="12700">
            <a:miter lim="400000"/>
          </a:ln>
        </p:spPr>
      </p:pic>
      <p:sp>
        <p:nvSpPr>
          <p:cNvPr id="104" name="Text 3"/>
          <p:cNvSpPr txBox="1"/>
          <p:nvPr/>
        </p:nvSpPr>
        <p:spPr>
          <a:xfrm>
            <a:off x="496119" y="4940796"/>
            <a:ext cx="5633443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defRPr sz="500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</a:lstStyle>
          <a:p>
            <a:pPr/>
            <a:r>
              <a:t>Игровой цикл Auto Arsenal — непрерывная петля: спавн врагов, уклонение, автоатака, сбор опыта, выбор усилений и нарастающая сложность. Цикл прерывается только при Game Over.</a:t>
            </a:r>
          </a:p>
        </p:txBody>
      </p:sp>
      <p:sp>
        <p:nvSpPr>
          <p:cNvPr id="105" name="Rectangle"/>
          <p:cNvSpPr/>
          <p:nvPr/>
        </p:nvSpPr>
        <p:spPr>
          <a:xfrm>
            <a:off x="7728708" y="4276512"/>
            <a:ext cx="1382118" cy="834800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9" rIns="45719" anchor="ctr"/>
          <a:lstStyle/>
          <a:p>
            <a:pPr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Shape 0"/>
          <p:cNvSpPr/>
          <p:nvPr/>
        </p:nvSpPr>
        <p:spPr>
          <a:xfrm>
            <a:off x="496118" y="410318"/>
            <a:ext cx="783209" cy="181720"/>
          </a:xfrm>
          <a:prstGeom prst="roundRect">
            <a:avLst>
              <a:gd name="adj" fmla="val 22117"/>
            </a:avLst>
          </a:prstGeom>
          <a:solidFill>
            <a:srgbClr val="D6F5EE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08" name="Text 1"/>
          <p:cNvSpPr txBox="1"/>
          <p:nvPr/>
        </p:nvSpPr>
        <p:spPr>
          <a:xfrm>
            <a:off x="567854" y="446187"/>
            <a:ext cx="66187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ct val="96000"/>
              </a:lnSpc>
              <a:defRPr sz="700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</a:lstStyle>
          <a:p>
            <a:pPr/>
            <a:r>
              <a:t>АРХИТЕКТУРА</a:t>
            </a:r>
          </a:p>
        </p:txBody>
      </p:sp>
      <p:sp>
        <p:nvSpPr>
          <p:cNvPr id="109" name="Text 2"/>
          <p:cNvSpPr txBox="1"/>
          <p:nvPr/>
        </p:nvSpPr>
        <p:spPr>
          <a:xfrm>
            <a:off x="496119" y="632370"/>
            <a:ext cx="4487051" cy="355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ct val="104000"/>
              </a:lnSpc>
              <a:defRPr b="1" sz="2300">
                <a:solidFill>
                  <a:srgbClr val="333F70"/>
                </a:solidFill>
                <a:latin typeface="Unbounded Bold"/>
                <a:ea typeface="Unbounded Bold"/>
                <a:cs typeface="Unbounded Bold"/>
                <a:sym typeface="Unbounded Bold"/>
              </a:defRPr>
            </a:lvl1pPr>
          </a:lstStyle>
          <a:p>
            <a:pPr/>
            <a:r>
              <a:t>Модульная структура проекта</a:t>
            </a:r>
          </a:p>
        </p:txBody>
      </p:sp>
      <p:sp>
        <p:nvSpPr>
          <p:cNvPr id="110" name="Text 3"/>
          <p:cNvSpPr txBox="1"/>
          <p:nvPr/>
        </p:nvSpPr>
        <p:spPr>
          <a:xfrm>
            <a:off x="496118" y="1258416"/>
            <a:ext cx="1320343" cy="165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ct val="104000"/>
              </a:lnSpc>
              <a:defRPr b="1" sz="1100">
                <a:solidFill>
                  <a:srgbClr val="333F70"/>
                </a:solidFill>
                <a:latin typeface="Unbounded Bold"/>
                <a:ea typeface="Unbounded Bold"/>
                <a:cs typeface="Unbounded Bold"/>
                <a:sym typeface="Unbounded Bold"/>
              </a:defRPr>
            </a:lvl1pPr>
          </a:lstStyle>
          <a:p>
            <a:pPr/>
            <a:r>
              <a:t>Структура файлов</a:t>
            </a:r>
          </a:p>
        </p:txBody>
      </p:sp>
      <p:sp>
        <p:nvSpPr>
          <p:cNvPr id="111" name="Shape 4"/>
          <p:cNvSpPr/>
          <p:nvPr/>
        </p:nvSpPr>
        <p:spPr>
          <a:xfrm>
            <a:off x="496118" y="1558750"/>
            <a:ext cx="3929957" cy="3060950"/>
          </a:xfrm>
          <a:prstGeom prst="roundRect">
            <a:avLst>
              <a:gd name="adj" fmla="val 1641"/>
            </a:avLst>
          </a:prstGeom>
          <a:solidFill>
            <a:srgbClr val="F2F2F2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12" name="Shape 5"/>
          <p:cNvSpPr/>
          <p:nvPr/>
        </p:nvSpPr>
        <p:spPr>
          <a:xfrm>
            <a:off x="490164" y="1558750"/>
            <a:ext cx="3941864" cy="3060950"/>
          </a:xfrm>
          <a:prstGeom prst="roundRect">
            <a:avLst>
              <a:gd name="adj" fmla="val 586"/>
            </a:avLst>
          </a:prstGeom>
          <a:solidFill>
            <a:srgbClr val="F2F2F2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13" name="Text 6"/>
          <p:cNvSpPr txBox="1"/>
          <p:nvPr/>
        </p:nvSpPr>
        <p:spPr>
          <a:xfrm>
            <a:off x="639662" y="1678334"/>
            <a:ext cx="3642868" cy="282178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/>
          <a:p>
            <a:pPr>
              <a:lnSpc>
                <a:spcPct val="123000"/>
              </a:lnSpc>
              <a:defRPr sz="900">
                <a:solidFill>
                  <a:srgbClr val="333F70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t>Python-Game/</a:t>
            </a:r>
          </a:p>
          <a:p>
            <a:pPr>
              <a:lnSpc>
                <a:spcPct val="123000"/>
              </a:lnSpc>
              <a:defRPr sz="900">
                <a:solidFill>
                  <a:srgbClr val="333F70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t>├── main.py           # Игровой цикл, FSM</a:t>
            </a:r>
          </a:p>
          <a:p>
            <a:pPr>
              <a:lnSpc>
                <a:spcPct val="123000"/>
              </a:lnSpc>
              <a:defRPr sz="900">
                <a:solidFill>
                  <a:srgbClr val="333F70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t>├── src/</a:t>
            </a:r>
          </a:p>
          <a:p>
            <a:pPr>
              <a:lnSpc>
                <a:spcPct val="123000"/>
              </a:lnSpc>
              <a:defRPr sz="900">
                <a:solidFill>
                  <a:srgbClr val="333F70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t>│   ├── settings.py   # Константы</a:t>
            </a:r>
          </a:p>
          <a:p>
            <a:pPr>
              <a:lnSpc>
                <a:spcPct val="123000"/>
              </a:lnSpc>
              <a:defRPr sz="900">
                <a:solidFill>
                  <a:srgbClr val="333F70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t>│   ├── entity.py     # Базовый класс</a:t>
            </a:r>
          </a:p>
          <a:p>
            <a:pPr>
              <a:lnSpc>
                <a:spcPct val="123000"/>
              </a:lnSpc>
              <a:defRPr sz="900">
                <a:solidFill>
                  <a:srgbClr val="333F70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t>│   ├── player.py     # Персонаж + автоатака</a:t>
            </a:r>
          </a:p>
          <a:p>
            <a:pPr>
              <a:lnSpc>
                <a:spcPct val="123000"/>
              </a:lnSpc>
              <a:defRPr sz="900">
                <a:solidFill>
                  <a:srgbClr val="333F70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t>│   ├── enemy.py      # 6 типов врагов</a:t>
            </a:r>
          </a:p>
          <a:p>
            <a:pPr>
              <a:lnSpc>
                <a:spcPct val="123000"/>
              </a:lnSpc>
              <a:defRPr sz="900">
                <a:solidFill>
                  <a:srgbClr val="333F70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t>│   ├── wave_manager.py</a:t>
            </a:r>
          </a:p>
          <a:p>
            <a:pPr>
              <a:lnSpc>
                <a:spcPct val="123000"/>
              </a:lnSpc>
              <a:defRPr sz="900">
                <a:solidFill>
                  <a:srgbClr val="333F70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t>│   ├── abilities.py  # 5 способностей</a:t>
            </a:r>
          </a:p>
          <a:p>
            <a:pPr>
              <a:lnSpc>
                <a:spcPct val="123000"/>
              </a:lnSpc>
              <a:defRPr sz="900">
                <a:solidFill>
                  <a:srgbClr val="333F70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t>│   ├── pickups.py    # Дропы с магнитом</a:t>
            </a:r>
          </a:p>
          <a:p>
            <a:pPr>
              <a:lnSpc>
                <a:spcPct val="123000"/>
              </a:lnSpc>
              <a:defRPr sz="900">
                <a:solidFill>
                  <a:srgbClr val="333F70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t>│   ├── camera.py     # Камера с зумом</a:t>
            </a:r>
          </a:p>
          <a:p>
            <a:pPr>
              <a:lnSpc>
                <a:spcPct val="123000"/>
              </a:lnSpc>
              <a:defRPr sz="900">
                <a:solidFill>
                  <a:srgbClr val="333F70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t>│   ├── hud.py        # UI поверх игры</a:t>
            </a:r>
          </a:p>
          <a:p>
            <a:pPr>
              <a:lnSpc>
                <a:spcPct val="123000"/>
              </a:lnSpc>
              <a:defRPr sz="900">
                <a:solidFill>
                  <a:srgbClr val="333F70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t>│   ├── menu.py       # Меню и подменю</a:t>
            </a:r>
          </a:p>
          <a:p>
            <a:pPr>
              <a:lnSpc>
                <a:spcPct val="123000"/>
              </a:lnSpc>
              <a:defRPr sz="900">
                <a:solidFill>
                  <a:srgbClr val="333F70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t>│   └── records.py    # Рекорды</a:t>
            </a:r>
          </a:p>
          <a:p>
            <a:pPr>
              <a:lnSpc>
                <a:spcPct val="123000"/>
              </a:lnSpc>
              <a:defRPr sz="900">
                <a:solidFill>
                  <a:srgbClr val="333F70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t>├── assets/           # Графика</a:t>
            </a:r>
          </a:p>
          <a:p>
            <a:pPr>
              <a:lnSpc>
                <a:spcPct val="123000"/>
              </a:lnSpc>
              <a:defRPr sz="900">
                <a:solidFill>
                  <a:srgbClr val="333F70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t>└── docs/             # GDD, TDD</a:t>
            </a:r>
          </a:p>
        </p:txBody>
      </p:sp>
      <p:sp>
        <p:nvSpPr>
          <p:cNvPr id="114" name="Text 7"/>
          <p:cNvSpPr txBox="1"/>
          <p:nvPr/>
        </p:nvSpPr>
        <p:spPr>
          <a:xfrm>
            <a:off x="4722688" y="1258416"/>
            <a:ext cx="1190601" cy="165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ct val="104000"/>
              </a:lnSpc>
              <a:defRPr b="1" sz="1100">
                <a:solidFill>
                  <a:srgbClr val="333F70"/>
                </a:solidFill>
                <a:latin typeface="Unbounded Bold"/>
                <a:ea typeface="Unbounded Bold"/>
                <a:cs typeface="Unbounded Bold"/>
                <a:sym typeface="Unbounded Bold"/>
              </a:defRPr>
            </a:lvl1pPr>
          </a:lstStyle>
          <a:p>
            <a:pPr/>
            <a:r>
              <a:t>Стек технологий</a:t>
            </a:r>
          </a:p>
        </p:txBody>
      </p:sp>
      <p:sp>
        <p:nvSpPr>
          <p:cNvPr id="115" name="Shape 8"/>
          <p:cNvSpPr/>
          <p:nvPr/>
        </p:nvSpPr>
        <p:spPr>
          <a:xfrm>
            <a:off x="4722688" y="1558750"/>
            <a:ext cx="1914526" cy="908225"/>
          </a:xfrm>
          <a:prstGeom prst="roundRect">
            <a:avLst>
              <a:gd name="adj" fmla="val 5532"/>
            </a:avLst>
          </a:prstGeom>
          <a:solidFill>
            <a:srgbClr val="FFFFFF"/>
          </a:solidFill>
          <a:ln w="14288">
            <a:solidFill>
              <a:srgbClr val="BCDBD4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16" name="Text 9"/>
          <p:cNvSpPr txBox="1"/>
          <p:nvPr/>
        </p:nvSpPr>
        <p:spPr>
          <a:xfrm>
            <a:off x="4856558" y="1692622"/>
            <a:ext cx="719114" cy="165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ct val="104000"/>
              </a:lnSpc>
              <a:defRPr b="1" sz="1100">
                <a:solidFill>
                  <a:srgbClr val="333F70"/>
                </a:solidFill>
                <a:latin typeface="Unbounded Bold"/>
                <a:ea typeface="Unbounded Bold"/>
                <a:cs typeface="Unbounded Bold"/>
                <a:sym typeface="Unbounded Bold"/>
              </a:defRPr>
            </a:lvl1pPr>
          </a:lstStyle>
          <a:p>
            <a:pPr/>
            <a:r>
              <a:t>Python 3.x</a:t>
            </a:r>
          </a:p>
        </p:txBody>
      </p:sp>
      <p:sp>
        <p:nvSpPr>
          <p:cNvPr id="117" name="Text 10"/>
          <p:cNvSpPr txBox="1"/>
          <p:nvPr/>
        </p:nvSpPr>
        <p:spPr>
          <a:xfrm>
            <a:off x="4856558" y="1980381"/>
            <a:ext cx="840204" cy="139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ct val="123000"/>
              </a:lnSpc>
              <a:defRPr sz="900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</a:lstStyle>
          <a:p>
            <a:pPr/>
            <a:r>
              <a:t>Основной язык</a:t>
            </a:r>
          </a:p>
        </p:txBody>
      </p:sp>
      <p:sp>
        <p:nvSpPr>
          <p:cNvPr id="118" name="Shape 11"/>
          <p:cNvSpPr/>
          <p:nvPr/>
        </p:nvSpPr>
        <p:spPr>
          <a:xfrm>
            <a:off x="6738118" y="1558750"/>
            <a:ext cx="1914526" cy="908225"/>
          </a:xfrm>
          <a:prstGeom prst="roundRect">
            <a:avLst>
              <a:gd name="adj" fmla="val 5532"/>
            </a:avLst>
          </a:prstGeom>
          <a:solidFill>
            <a:srgbClr val="FFFFFF"/>
          </a:solidFill>
          <a:ln w="14288">
            <a:solidFill>
              <a:srgbClr val="BCDBD4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19" name="Text 12"/>
          <p:cNvSpPr txBox="1"/>
          <p:nvPr/>
        </p:nvSpPr>
        <p:spPr>
          <a:xfrm>
            <a:off x="6871989" y="1692622"/>
            <a:ext cx="548514" cy="165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ct val="104000"/>
              </a:lnSpc>
              <a:defRPr b="1" sz="1100">
                <a:solidFill>
                  <a:srgbClr val="333F70"/>
                </a:solidFill>
                <a:latin typeface="Unbounded Bold"/>
                <a:ea typeface="Unbounded Bold"/>
                <a:cs typeface="Unbounded Bold"/>
                <a:sym typeface="Unbounded Bold"/>
              </a:defRPr>
            </a:lvl1pPr>
          </a:lstStyle>
          <a:p>
            <a:pPr/>
            <a:r>
              <a:t>Pygame</a:t>
            </a:r>
          </a:p>
        </p:txBody>
      </p:sp>
      <p:sp>
        <p:nvSpPr>
          <p:cNvPr id="120" name="Text 13"/>
          <p:cNvSpPr txBox="1"/>
          <p:nvPr/>
        </p:nvSpPr>
        <p:spPr>
          <a:xfrm>
            <a:off x="6871989" y="1980381"/>
            <a:ext cx="1646784" cy="35272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lnSpc>
                <a:spcPct val="123000"/>
              </a:lnSpc>
              <a:defRPr sz="900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</a:lstStyle>
          <a:p>
            <a:pPr/>
            <a:r>
              <a:t>Спрайты, события, рендеринг</a:t>
            </a:r>
          </a:p>
        </p:txBody>
      </p:sp>
      <p:sp>
        <p:nvSpPr>
          <p:cNvPr id="121" name="Shape 14"/>
          <p:cNvSpPr/>
          <p:nvPr/>
        </p:nvSpPr>
        <p:spPr>
          <a:xfrm>
            <a:off x="4722688" y="2567880"/>
            <a:ext cx="1914526" cy="731863"/>
          </a:xfrm>
          <a:prstGeom prst="roundRect">
            <a:avLst>
              <a:gd name="adj" fmla="val 6865"/>
            </a:avLst>
          </a:prstGeom>
          <a:solidFill>
            <a:srgbClr val="FFFFFF"/>
          </a:solidFill>
          <a:ln w="14288">
            <a:solidFill>
              <a:srgbClr val="BCDBD4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22" name="Text 15"/>
          <p:cNvSpPr txBox="1"/>
          <p:nvPr/>
        </p:nvSpPr>
        <p:spPr>
          <a:xfrm>
            <a:off x="4856558" y="2701750"/>
            <a:ext cx="788691" cy="165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ct val="104000"/>
              </a:lnSpc>
              <a:defRPr b="1" sz="1100">
                <a:solidFill>
                  <a:srgbClr val="333F70"/>
                </a:solidFill>
                <a:latin typeface="Unbounded Bold"/>
                <a:ea typeface="Unbounded Bold"/>
                <a:cs typeface="Unbounded Bold"/>
                <a:sym typeface="Unbounded Bold"/>
              </a:defRPr>
            </a:lvl1pPr>
          </a:lstStyle>
          <a:p>
            <a:pPr/>
            <a:r>
              <a:t>Git / GitHub</a:t>
            </a:r>
          </a:p>
        </p:txBody>
      </p:sp>
      <p:sp>
        <p:nvSpPr>
          <p:cNvPr id="123" name="Text 16"/>
          <p:cNvSpPr txBox="1"/>
          <p:nvPr/>
        </p:nvSpPr>
        <p:spPr>
          <a:xfrm>
            <a:off x="4856558" y="2989510"/>
            <a:ext cx="935138" cy="139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ct val="123000"/>
              </a:lnSpc>
              <a:defRPr sz="900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</a:lstStyle>
          <a:p>
            <a:pPr/>
            <a:r>
              <a:t>Контроль версий</a:t>
            </a:r>
          </a:p>
        </p:txBody>
      </p:sp>
      <p:sp>
        <p:nvSpPr>
          <p:cNvPr id="124" name="Shape 17"/>
          <p:cNvSpPr/>
          <p:nvPr/>
        </p:nvSpPr>
        <p:spPr>
          <a:xfrm>
            <a:off x="6738118" y="2567880"/>
            <a:ext cx="1914526" cy="731863"/>
          </a:xfrm>
          <a:prstGeom prst="roundRect">
            <a:avLst>
              <a:gd name="adj" fmla="val 6865"/>
            </a:avLst>
          </a:prstGeom>
          <a:solidFill>
            <a:srgbClr val="FFFFFF"/>
          </a:solidFill>
          <a:ln w="14288">
            <a:solidFill>
              <a:srgbClr val="BCDBD4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25" name="Text 18"/>
          <p:cNvSpPr txBox="1"/>
          <p:nvPr/>
        </p:nvSpPr>
        <p:spPr>
          <a:xfrm>
            <a:off x="6871989" y="2701750"/>
            <a:ext cx="587122" cy="165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ct val="104000"/>
              </a:lnSpc>
              <a:defRPr b="1" sz="1100">
                <a:solidFill>
                  <a:srgbClr val="333F70"/>
                </a:solidFill>
                <a:latin typeface="Unbounded Bold"/>
                <a:ea typeface="Unbounded Bold"/>
                <a:cs typeface="Unbounded Bold"/>
                <a:sym typeface="Unbounded Bold"/>
              </a:defRPr>
            </a:lvl1pPr>
          </a:lstStyle>
          <a:p>
            <a:pPr/>
            <a:r>
              <a:t>VS Code</a:t>
            </a:r>
          </a:p>
        </p:txBody>
      </p:sp>
      <p:sp>
        <p:nvSpPr>
          <p:cNvPr id="126" name="Text 19"/>
          <p:cNvSpPr txBox="1"/>
          <p:nvPr/>
        </p:nvSpPr>
        <p:spPr>
          <a:xfrm>
            <a:off x="6871989" y="2989510"/>
            <a:ext cx="1011989" cy="139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ct val="123000"/>
              </a:lnSpc>
              <a:defRPr sz="900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</a:lstStyle>
          <a:p>
            <a:pPr/>
            <a:r>
              <a:t>Среда разработки</a:t>
            </a:r>
          </a:p>
        </p:txBody>
      </p:sp>
      <p:sp>
        <p:nvSpPr>
          <p:cNvPr id="127" name="Shape 20"/>
          <p:cNvSpPr/>
          <p:nvPr/>
        </p:nvSpPr>
        <p:spPr>
          <a:xfrm>
            <a:off x="4722688" y="3400647"/>
            <a:ext cx="1914526" cy="731863"/>
          </a:xfrm>
          <a:prstGeom prst="roundRect">
            <a:avLst>
              <a:gd name="adj" fmla="val 6865"/>
            </a:avLst>
          </a:prstGeom>
          <a:solidFill>
            <a:srgbClr val="FFFFFF"/>
          </a:solidFill>
          <a:ln w="14288">
            <a:solidFill>
              <a:srgbClr val="BCDBD4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28" name="Text 21"/>
          <p:cNvSpPr txBox="1"/>
          <p:nvPr/>
        </p:nvSpPr>
        <p:spPr>
          <a:xfrm>
            <a:off x="4856558" y="3534519"/>
            <a:ext cx="432006" cy="165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ct val="104000"/>
              </a:lnSpc>
              <a:defRPr b="1" sz="1100">
                <a:solidFill>
                  <a:srgbClr val="333F70"/>
                </a:solidFill>
                <a:latin typeface="Unbounded Bold"/>
                <a:ea typeface="Unbounded Bold"/>
                <a:cs typeface="Unbounded Bold"/>
                <a:sym typeface="Unbounded Bold"/>
              </a:defRPr>
            </a:lvl1pPr>
          </a:lstStyle>
          <a:p>
            <a:pPr/>
            <a:r>
              <a:t>Pytest</a:t>
            </a:r>
          </a:p>
        </p:txBody>
      </p:sp>
      <p:sp>
        <p:nvSpPr>
          <p:cNvPr id="129" name="Text 22"/>
          <p:cNvSpPr txBox="1"/>
          <p:nvPr/>
        </p:nvSpPr>
        <p:spPr>
          <a:xfrm>
            <a:off x="4856558" y="3822277"/>
            <a:ext cx="1138456" cy="139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ct val="123000"/>
              </a:lnSpc>
              <a:defRPr sz="900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</a:lstStyle>
          <a:p>
            <a:pPr/>
            <a:r>
              <a:t>Тестирование (план)</a:t>
            </a:r>
          </a:p>
        </p:txBody>
      </p:sp>
      <p:sp>
        <p:nvSpPr>
          <p:cNvPr id="130" name="Shape 23"/>
          <p:cNvSpPr/>
          <p:nvPr/>
        </p:nvSpPr>
        <p:spPr>
          <a:xfrm>
            <a:off x="6738118" y="3400647"/>
            <a:ext cx="1914526" cy="731863"/>
          </a:xfrm>
          <a:prstGeom prst="roundRect">
            <a:avLst>
              <a:gd name="adj" fmla="val 6865"/>
            </a:avLst>
          </a:prstGeom>
          <a:solidFill>
            <a:srgbClr val="FFFFFF"/>
          </a:solidFill>
          <a:ln w="14288">
            <a:solidFill>
              <a:srgbClr val="BCDBD4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31" name="Text 24"/>
          <p:cNvSpPr txBox="1"/>
          <p:nvPr/>
        </p:nvSpPr>
        <p:spPr>
          <a:xfrm>
            <a:off x="6871989" y="3534519"/>
            <a:ext cx="959769" cy="165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ct val="104000"/>
              </a:lnSpc>
              <a:defRPr b="1" sz="1100">
                <a:solidFill>
                  <a:srgbClr val="333F70"/>
                </a:solidFill>
                <a:latin typeface="Unbounded Bold"/>
                <a:ea typeface="Unbounded Bold"/>
                <a:cs typeface="Unbounded Bold"/>
                <a:sym typeface="Unbounded Bold"/>
              </a:defRPr>
            </a:lvl1pPr>
          </a:lstStyle>
          <a:p>
            <a:pPr/>
            <a:r>
              <a:t>OpenGameArt</a:t>
            </a:r>
          </a:p>
        </p:txBody>
      </p:sp>
      <p:sp>
        <p:nvSpPr>
          <p:cNvPr id="132" name="Text 25"/>
          <p:cNvSpPr txBox="1"/>
          <p:nvPr/>
        </p:nvSpPr>
        <p:spPr>
          <a:xfrm>
            <a:off x="6871989" y="3822277"/>
            <a:ext cx="1465952" cy="139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ct val="123000"/>
              </a:lnSpc>
              <a:defRPr sz="900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</a:lstStyle>
          <a:p>
            <a:pPr/>
            <a:r>
              <a:t>Пиксель-арт, CC лицензии</a:t>
            </a:r>
          </a:p>
        </p:txBody>
      </p:sp>
      <p:sp>
        <p:nvSpPr>
          <p:cNvPr id="133" name="Rectangle"/>
          <p:cNvSpPr/>
          <p:nvPr/>
        </p:nvSpPr>
        <p:spPr>
          <a:xfrm>
            <a:off x="7728708" y="4276512"/>
            <a:ext cx="1382118" cy="834800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9" rIns="45719" anchor="ctr"/>
          <a:lstStyle/>
          <a:p>
            <a:pPr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Shape 0"/>
          <p:cNvSpPr/>
          <p:nvPr/>
        </p:nvSpPr>
        <p:spPr>
          <a:xfrm>
            <a:off x="496118" y="757014"/>
            <a:ext cx="1543647" cy="215355"/>
          </a:xfrm>
          <a:prstGeom prst="roundRect">
            <a:avLst>
              <a:gd name="adj" fmla="val 22119"/>
            </a:avLst>
          </a:prstGeom>
          <a:solidFill>
            <a:srgbClr val="D6F5EE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36" name="Text 1"/>
          <p:cNvSpPr txBox="1"/>
          <p:nvPr/>
        </p:nvSpPr>
        <p:spPr>
          <a:xfrm>
            <a:off x="581174" y="799504"/>
            <a:ext cx="1320007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ct val="96000"/>
              </a:lnSpc>
              <a:defRPr sz="800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</a:lstStyle>
          <a:p>
            <a:pPr/>
            <a:r>
              <a:t>ТЕХНИЧЕСКИЕ РЕШЕНИЯ</a:t>
            </a:r>
          </a:p>
        </p:txBody>
      </p:sp>
      <p:sp>
        <p:nvSpPr>
          <p:cNvPr id="137" name="Text 2"/>
          <p:cNvSpPr txBox="1"/>
          <p:nvPr/>
        </p:nvSpPr>
        <p:spPr>
          <a:xfrm>
            <a:off x="496119" y="1029071"/>
            <a:ext cx="2232844" cy="406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ct val="104000"/>
              </a:lnSpc>
              <a:defRPr b="1" sz="2700">
                <a:solidFill>
                  <a:srgbClr val="333F70"/>
                </a:solidFill>
                <a:latin typeface="Unbounded Bold"/>
                <a:ea typeface="Unbounded Bold"/>
                <a:cs typeface="Unbounded Bold"/>
                <a:sym typeface="Unbounded Bold"/>
              </a:defRPr>
            </a:lvl1pPr>
          </a:lstStyle>
          <a:p>
            <a:pPr/>
            <a:r>
              <a:t>Под капотом</a:t>
            </a:r>
          </a:p>
        </p:txBody>
      </p:sp>
      <p:sp>
        <p:nvSpPr>
          <p:cNvPr id="138" name="Shape 3"/>
          <p:cNvSpPr/>
          <p:nvPr/>
        </p:nvSpPr>
        <p:spPr>
          <a:xfrm>
            <a:off x="496118" y="1684659"/>
            <a:ext cx="4004966" cy="1279997"/>
          </a:xfrm>
          <a:prstGeom prst="roundRect">
            <a:avLst>
              <a:gd name="adj" fmla="val 4652"/>
            </a:avLst>
          </a:prstGeom>
          <a:solidFill>
            <a:srgbClr val="D6F5EE"/>
          </a:solidFill>
          <a:ln w="4763">
            <a:solidFill>
              <a:srgbClr val="BCDBD4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39" name="Text 4"/>
          <p:cNvSpPr txBox="1"/>
          <p:nvPr/>
        </p:nvSpPr>
        <p:spPr>
          <a:xfrm>
            <a:off x="642640" y="1831181"/>
            <a:ext cx="1278682" cy="203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ct val="104000"/>
              </a:lnSpc>
              <a:defRPr b="1" sz="1300">
                <a:solidFill>
                  <a:srgbClr val="333F70"/>
                </a:solidFill>
                <a:latin typeface="Unbounded Bold"/>
                <a:ea typeface="Unbounded Bold"/>
                <a:cs typeface="Unbounded Bold"/>
                <a:sym typeface="Unbounded Bold"/>
              </a:defRPr>
            </a:lvl1pPr>
          </a:lstStyle>
          <a:p>
            <a:pPr/>
            <a:r>
              <a:t>FSM состояний</a:t>
            </a:r>
          </a:p>
        </p:txBody>
      </p:sp>
      <p:sp>
        <p:nvSpPr>
          <p:cNvPr id="140" name="Text 5"/>
          <p:cNvSpPr txBox="1"/>
          <p:nvPr/>
        </p:nvSpPr>
        <p:spPr>
          <a:xfrm>
            <a:off x="642640" y="2137692"/>
            <a:ext cx="3711922" cy="68044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/>
          <a:p>
            <a:pPr>
              <a:lnSpc>
                <a:spcPct val="133000"/>
              </a:lnSpc>
              <a:defRPr sz="1100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defRPr>
            </a:pPr>
            <a:r>
              <a:t>Menu → Playing → Paused → LevelUp → GameOver. Стабильные </a:t>
            </a:r>
            <a:r>
              <a:rPr b="1">
                <a:latin typeface="Open Sans Bold"/>
                <a:ea typeface="Open Sans Bold"/>
                <a:cs typeface="Open Sans Bold"/>
                <a:sym typeface="Open Sans Bold"/>
              </a:rPr>
              <a:t>60 FPS</a:t>
            </a:r>
            <a:r>
              <a:t> через </a:t>
            </a:r>
            <a:r>
              <a:rPr>
                <a:latin typeface="Consolas"/>
                <a:ea typeface="Consolas"/>
                <a:cs typeface="Consolas"/>
                <a:sym typeface="Consolas"/>
              </a:rPr>
              <a:t>clock.tick(60)</a:t>
            </a:r>
            <a:r>
              <a:t>, delta time для независимости от частоты кадров.</a:t>
            </a:r>
          </a:p>
        </p:txBody>
      </p:sp>
      <p:sp>
        <p:nvSpPr>
          <p:cNvPr id="141" name="Shape 6"/>
          <p:cNvSpPr/>
          <p:nvPr/>
        </p:nvSpPr>
        <p:spPr>
          <a:xfrm>
            <a:off x="4642842" y="1684659"/>
            <a:ext cx="4005040" cy="1279997"/>
          </a:xfrm>
          <a:prstGeom prst="roundRect">
            <a:avLst>
              <a:gd name="adj" fmla="val 4652"/>
            </a:avLst>
          </a:prstGeom>
          <a:solidFill>
            <a:srgbClr val="D6F5EE"/>
          </a:solidFill>
          <a:ln w="4763">
            <a:solidFill>
              <a:srgbClr val="BCDBD4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42" name="Text 7"/>
          <p:cNvSpPr txBox="1"/>
          <p:nvPr/>
        </p:nvSpPr>
        <p:spPr>
          <a:xfrm>
            <a:off x="4789363" y="1831181"/>
            <a:ext cx="1089398" cy="203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ct val="104000"/>
              </a:lnSpc>
              <a:defRPr b="1" sz="1300">
                <a:solidFill>
                  <a:srgbClr val="333F70"/>
                </a:solidFill>
                <a:latin typeface="Unbounded Bold"/>
                <a:ea typeface="Unbounded Bold"/>
                <a:cs typeface="Unbounded Bold"/>
                <a:sym typeface="Unbounded Bold"/>
              </a:defRPr>
            </a:lvl1pPr>
          </a:lstStyle>
          <a:p>
            <a:pPr/>
            <a:r>
              <a:t>Графика и UI</a:t>
            </a:r>
          </a:p>
        </p:txBody>
      </p:sp>
      <p:sp>
        <p:nvSpPr>
          <p:cNvPr id="143" name="Text 8"/>
          <p:cNvSpPr txBox="1"/>
          <p:nvPr/>
        </p:nvSpPr>
        <p:spPr>
          <a:xfrm>
            <a:off x="4789363" y="2137692"/>
            <a:ext cx="3711998" cy="68044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lnSpc>
                <a:spcPct val="133000"/>
              </a:lnSpc>
              <a:defRPr sz="1100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</a:lstStyle>
          <a:p>
            <a:pPr/>
            <a:r>
              <a:t>Спрайт-листы с автокадрами, камера с зумом 0.9, процедурные эффекты (аура, молния, метеорит), HUD с HP/XP и меню с анимацией облаков.</a:t>
            </a:r>
          </a:p>
        </p:txBody>
      </p:sp>
      <p:sp>
        <p:nvSpPr>
          <p:cNvPr id="144" name="Shape 9"/>
          <p:cNvSpPr/>
          <p:nvPr/>
        </p:nvSpPr>
        <p:spPr>
          <a:xfrm>
            <a:off x="496118" y="3106415"/>
            <a:ext cx="4004966" cy="1279997"/>
          </a:xfrm>
          <a:prstGeom prst="roundRect">
            <a:avLst>
              <a:gd name="adj" fmla="val 4652"/>
            </a:avLst>
          </a:prstGeom>
          <a:solidFill>
            <a:srgbClr val="D6F5EE"/>
          </a:solidFill>
          <a:ln w="4763">
            <a:solidFill>
              <a:srgbClr val="BCDBD4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45" name="Text 10"/>
          <p:cNvSpPr txBox="1"/>
          <p:nvPr/>
        </p:nvSpPr>
        <p:spPr>
          <a:xfrm>
            <a:off x="642640" y="3252935"/>
            <a:ext cx="1122369" cy="203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ct val="104000"/>
              </a:lnSpc>
              <a:defRPr b="1" sz="1300">
                <a:solidFill>
                  <a:srgbClr val="333F70"/>
                </a:solidFill>
                <a:latin typeface="Unbounded Bold"/>
                <a:ea typeface="Unbounded Bold"/>
                <a:cs typeface="Unbounded Bold"/>
                <a:sym typeface="Unbounded Bold"/>
              </a:defRPr>
            </a:lvl1pPr>
          </a:lstStyle>
          <a:p>
            <a:pPr/>
            <a:r>
              <a:t>Оптимизация</a:t>
            </a:r>
          </a:p>
        </p:txBody>
      </p:sp>
      <p:sp>
        <p:nvSpPr>
          <p:cNvPr id="146" name="Text 11"/>
          <p:cNvSpPr txBox="1"/>
          <p:nvPr/>
        </p:nvSpPr>
        <p:spPr>
          <a:xfrm>
            <a:off x="642640" y="3559447"/>
            <a:ext cx="3711922" cy="68044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/>
          <a:p>
            <a:pPr>
              <a:lnSpc>
                <a:spcPct val="133000"/>
              </a:lnSpc>
              <a:defRPr sz="1100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defRPr>
            </a:pPr>
            <a:r>
              <a:t>Группы спрайтов Pygame, кэширование анимаций, проверка коллизий только в радиусе, dirty rects, квадрат расстояния вместо </a:t>
            </a:r>
            <a:r>
              <a:rPr>
                <a:latin typeface="Consolas"/>
                <a:ea typeface="Consolas"/>
                <a:cs typeface="Consolas"/>
                <a:sym typeface="Consolas"/>
              </a:rPr>
              <a:t>sqrt</a:t>
            </a:r>
            <a:r>
              <a:t>.</a:t>
            </a:r>
          </a:p>
        </p:txBody>
      </p:sp>
      <p:sp>
        <p:nvSpPr>
          <p:cNvPr id="147" name="Shape 12"/>
          <p:cNvSpPr/>
          <p:nvPr/>
        </p:nvSpPr>
        <p:spPr>
          <a:xfrm>
            <a:off x="4642842" y="3106415"/>
            <a:ext cx="4005040" cy="1279997"/>
          </a:xfrm>
          <a:prstGeom prst="roundRect">
            <a:avLst>
              <a:gd name="adj" fmla="val 4652"/>
            </a:avLst>
          </a:prstGeom>
          <a:solidFill>
            <a:srgbClr val="D6F5EE"/>
          </a:solidFill>
          <a:ln w="4763">
            <a:solidFill>
              <a:srgbClr val="BCDBD4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48" name="Text 13"/>
          <p:cNvSpPr txBox="1"/>
          <p:nvPr/>
        </p:nvSpPr>
        <p:spPr>
          <a:xfrm>
            <a:off x="4789363" y="3252935"/>
            <a:ext cx="985082" cy="203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ct val="104000"/>
              </a:lnSpc>
              <a:defRPr b="1" sz="1300">
                <a:solidFill>
                  <a:srgbClr val="333F70"/>
                </a:solidFill>
                <a:latin typeface="Unbounded Bold"/>
                <a:ea typeface="Unbounded Bold"/>
                <a:cs typeface="Unbounded Bold"/>
                <a:sym typeface="Unbounded Bold"/>
              </a:defRPr>
            </a:lvl1pPr>
          </a:lstStyle>
          <a:p>
            <a:pPr/>
            <a:r>
              <a:t>Прогрессия</a:t>
            </a:r>
          </a:p>
        </p:txBody>
      </p:sp>
      <p:sp>
        <p:nvSpPr>
          <p:cNvPr id="149" name="Text 14"/>
          <p:cNvSpPr txBox="1"/>
          <p:nvPr/>
        </p:nvSpPr>
        <p:spPr>
          <a:xfrm>
            <a:off x="4789363" y="3559447"/>
            <a:ext cx="3711998" cy="68044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/>
          <a:p>
            <a:pPr>
              <a:lnSpc>
                <a:spcPct val="133000"/>
              </a:lnSpc>
              <a:defRPr sz="1100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defRPr>
            </a:pPr>
            <a:r>
              <a:t>XP: </a:t>
            </a:r>
            <a:r>
              <a:rPr>
                <a:latin typeface="Consolas"/>
                <a:ea typeface="Consolas"/>
                <a:cs typeface="Consolas"/>
                <a:sym typeface="Consolas"/>
              </a:rPr>
              <a:t>5 × 1.35^(level-1) + 3×(level-1)</a:t>
            </a:r>
            <a:r>
              <a:t>. Враги: </a:t>
            </a:r>
            <a:r>
              <a:rPr>
                <a:latin typeface="Consolas"/>
                <a:ea typeface="Consolas"/>
                <a:cs typeface="Consolas"/>
                <a:sym typeface="Consolas"/>
              </a:rPr>
              <a:t>HP × (1 + (wave-1) × 0.06)</a:t>
            </a:r>
            <a:r>
              <a:t>. Взвешивание типов: </a:t>
            </a:r>
            <a:r>
              <a:rPr>
                <a:latin typeface="Consolas"/>
                <a:ea typeface="Consolas"/>
                <a:cs typeface="Consolas"/>
                <a:sym typeface="Consolas"/>
              </a:rPr>
              <a:t>10.0 + (wave - wave_unlock) × 3.0</a:t>
            </a:r>
            <a:r>
              <a:t>.</a:t>
            </a:r>
          </a:p>
        </p:txBody>
      </p:sp>
      <p:sp>
        <p:nvSpPr>
          <p:cNvPr id="150" name="Rectangle"/>
          <p:cNvSpPr/>
          <p:nvPr/>
        </p:nvSpPr>
        <p:spPr>
          <a:xfrm>
            <a:off x="7832143" y="4674691"/>
            <a:ext cx="1278683" cy="436621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9" rIns="45719" anchor="ctr"/>
          <a:lstStyle/>
          <a:p>
            <a:pPr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Shape 0"/>
          <p:cNvSpPr/>
          <p:nvPr/>
        </p:nvSpPr>
        <p:spPr>
          <a:xfrm>
            <a:off x="496118" y="410245"/>
            <a:ext cx="642195" cy="188566"/>
          </a:xfrm>
          <a:prstGeom prst="roundRect">
            <a:avLst>
              <a:gd name="adj" fmla="val 22104"/>
            </a:avLst>
          </a:prstGeom>
          <a:ln w="4763">
            <a:solidFill>
              <a:srgbClr val="26A688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53" name="Text 1"/>
          <p:cNvSpPr txBox="1"/>
          <p:nvPr/>
        </p:nvSpPr>
        <p:spPr>
          <a:xfrm>
            <a:off x="570533" y="447452"/>
            <a:ext cx="462323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ct val="96000"/>
              </a:lnSpc>
              <a:defRPr sz="700">
                <a:solidFill>
                  <a:srgbClr val="26A688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</a:lstStyle>
          <a:p>
            <a:pPr/>
            <a:r>
              <a:t>КОМАНДА</a:t>
            </a:r>
          </a:p>
        </p:txBody>
      </p:sp>
      <p:sp>
        <p:nvSpPr>
          <p:cNvPr id="154" name="Text 2"/>
          <p:cNvSpPr txBox="1"/>
          <p:nvPr/>
        </p:nvSpPr>
        <p:spPr>
          <a:xfrm>
            <a:off x="496119" y="642193"/>
            <a:ext cx="3022898" cy="368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ct val="104000"/>
              </a:lnSpc>
              <a:defRPr b="1" sz="2400">
                <a:solidFill>
                  <a:srgbClr val="333F70"/>
                </a:solidFill>
                <a:latin typeface="Unbounded Bold"/>
                <a:ea typeface="Unbounded Bold"/>
                <a:cs typeface="Unbounded Bold"/>
                <a:sym typeface="Unbounded Bold"/>
              </a:defRPr>
            </a:lvl1pPr>
          </a:lstStyle>
          <a:p>
            <a:pPr/>
            <a:r>
              <a:t>Разделение работы</a:t>
            </a:r>
          </a:p>
        </p:txBody>
      </p:sp>
      <p:sp>
        <p:nvSpPr>
          <p:cNvPr id="155" name="Shape 3"/>
          <p:cNvSpPr/>
          <p:nvPr/>
        </p:nvSpPr>
        <p:spPr>
          <a:xfrm>
            <a:off x="406822" y="1192484"/>
            <a:ext cx="4103192" cy="3540771"/>
          </a:xfrm>
          <a:prstGeom prst="roundRect">
            <a:avLst>
              <a:gd name="adj" fmla="val 2522"/>
            </a:avLst>
          </a:prstGeom>
          <a:solidFill>
            <a:srgbClr val="26A688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56" name="Text 4"/>
          <p:cNvSpPr txBox="1"/>
          <p:nvPr/>
        </p:nvSpPr>
        <p:spPr>
          <a:xfrm>
            <a:off x="530795" y="1300980"/>
            <a:ext cx="1203475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ct val="104000"/>
              </a:lnSpc>
              <a:defRPr b="1" sz="1200">
                <a:latin typeface="Unbounded Bold"/>
                <a:ea typeface="Unbounded Bold"/>
                <a:cs typeface="Unbounded Bold"/>
                <a:sym typeface="Unbounded Bold"/>
              </a:defRPr>
            </a:lvl1pPr>
          </a:lstStyle>
          <a:p>
            <a:pPr/>
            <a:r>
              <a:t>Корлович Илья</a:t>
            </a:r>
          </a:p>
        </p:txBody>
      </p:sp>
      <p:sp>
        <p:nvSpPr>
          <p:cNvPr id="157" name="Text 5"/>
          <p:cNvSpPr txBox="1"/>
          <p:nvPr/>
        </p:nvSpPr>
        <p:spPr>
          <a:xfrm>
            <a:off x="530795" y="1603325"/>
            <a:ext cx="2056595" cy="139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ct val="125000"/>
              </a:lnSpc>
              <a:defRPr i="1" sz="900">
                <a:latin typeface="Open Sans"/>
                <a:ea typeface="Open Sans"/>
                <a:cs typeface="Open Sans"/>
                <a:sym typeface="Open Sans"/>
              </a:defRPr>
            </a:lvl1pPr>
          </a:lstStyle>
          <a:p>
            <a:pPr/>
            <a:r>
              <a:t>Главный разработчик / геймдизайнер</a:t>
            </a:r>
          </a:p>
        </p:txBody>
      </p:sp>
      <p:sp>
        <p:nvSpPr>
          <p:cNvPr id="158" name="Text 6"/>
          <p:cNvSpPr txBox="1"/>
          <p:nvPr/>
        </p:nvSpPr>
        <p:spPr>
          <a:xfrm>
            <a:off x="530795" y="1886991"/>
            <a:ext cx="3855246" cy="10819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/>
          <a:p>
            <a:pPr marL="193039" indent="-193039">
              <a:lnSpc>
                <a:spcPct val="125000"/>
              </a:lnSpc>
              <a:buSzPct val="100000"/>
              <a:buChar char="•"/>
              <a:defRPr sz="900">
                <a:latin typeface="Open Sans"/>
                <a:ea typeface="Open Sans"/>
                <a:cs typeface="Open Sans"/>
                <a:sym typeface="Open Sans"/>
              </a:defRPr>
            </a:pPr>
            <a:r>
              <a:t>Архитектура и игровая логика</a:t>
            </a:r>
          </a:p>
          <a:p>
            <a:pPr marL="193039" indent="-193039">
              <a:lnSpc>
                <a:spcPct val="125000"/>
              </a:lnSpc>
              <a:buSzPct val="100000"/>
              <a:buChar char="•"/>
              <a:defRPr sz="900">
                <a:latin typeface="Open Sans"/>
                <a:ea typeface="Open Sans"/>
                <a:cs typeface="Open Sans"/>
                <a:sym typeface="Open Sans"/>
              </a:defRPr>
            </a:pPr>
            <a:r>
              <a:t>Система волн и прогрессии</a:t>
            </a:r>
          </a:p>
          <a:p>
            <a:pPr marL="193039" indent="-193039">
              <a:lnSpc>
                <a:spcPct val="125000"/>
              </a:lnSpc>
              <a:buSzPct val="100000"/>
              <a:buChar char="•"/>
              <a:defRPr sz="900">
                <a:latin typeface="Open Sans"/>
                <a:ea typeface="Open Sans"/>
                <a:cs typeface="Open Sans"/>
                <a:sym typeface="Open Sans"/>
              </a:defRPr>
            </a:pPr>
            <a:r>
              <a:t>Боевая механика и способности</a:t>
            </a:r>
          </a:p>
          <a:p>
            <a:pPr marL="193039" indent="-193039">
              <a:lnSpc>
                <a:spcPct val="125000"/>
              </a:lnSpc>
              <a:buSzPct val="100000"/>
              <a:buChar char="•"/>
              <a:defRPr sz="900">
                <a:latin typeface="Open Sans"/>
                <a:ea typeface="Open Sans"/>
                <a:cs typeface="Open Sans"/>
                <a:sym typeface="Open Sans"/>
              </a:defRPr>
            </a:pPr>
            <a:r>
              <a:t>Геймдизайн и балансировка</a:t>
            </a:r>
          </a:p>
          <a:p>
            <a:pPr marL="193039" indent="-193039">
              <a:lnSpc>
                <a:spcPct val="125000"/>
              </a:lnSpc>
              <a:buSzPct val="100000"/>
              <a:buChar char="•"/>
              <a:defRPr sz="900">
                <a:latin typeface="Open Sans"/>
                <a:ea typeface="Open Sans"/>
                <a:cs typeface="Open Sans"/>
                <a:sym typeface="Open Sans"/>
              </a:defRPr>
            </a:pPr>
            <a:r>
              <a:t>GDD</a:t>
            </a:r>
          </a:p>
        </p:txBody>
      </p:sp>
      <p:sp>
        <p:nvSpPr>
          <p:cNvPr id="159" name="Text 7"/>
          <p:cNvSpPr txBox="1"/>
          <p:nvPr/>
        </p:nvSpPr>
        <p:spPr>
          <a:xfrm>
            <a:off x="530795" y="3066603"/>
            <a:ext cx="3855246" cy="37207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/>
          <a:p>
            <a:pPr>
              <a:lnSpc>
                <a:spcPct val="125000"/>
              </a:lnSpc>
              <a:defRPr b="1" sz="900">
                <a:latin typeface="Open Sans Bold"/>
                <a:ea typeface="Open Sans Bold"/>
                <a:cs typeface="Open Sans Bold"/>
                <a:sym typeface="Open Sans Bold"/>
              </a:defRPr>
            </a:pPr>
            <a:r>
              <a:t>Модули:</a:t>
            </a:r>
            <a:r>
              <a:rPr b="0">
                <a:latin typeface="Open Sans"/>
                <a:ea typeface="Open Sans"/>
                <a:cs typeface="Open Sans"/>
                <a:sym typeface="Open Sans"/>
              </a:rPr>
              <a:t> player.py, enemy.py, wave_manager.py, abilities.py, pickups.py, Level Up</a:t>
            </a:r>
          </a:p>
        </p:txBody>
      </p:sp>
      <p:sp>
        <p:nvSpPr>
          <p:cNvPr id="160" name="Text 8"/>
          <p:cNvSpPr txBox="1"/>
          <p:nvPr/>
        </p:nvSpPr>
        <p:spPr>
          <a:xfrm>
            <a:off x="4728045" y="1300980"/>
            <a:ext cx="1205931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ct val="104000"/>
              </a:lnSpc>
              <a:defRPr b="1" sz="1200">
                <a:solidFill>
                  <a:srgbClr val="333F70"/>
                </a:solidFill>
                <a:latin typeface="Unbounded Bold"/>
                <a:ea typeface="Unbounded Bold"/>
                <a:cs typeface="Unbounded Bold"/>
                <a:sym typeface="Unbounded Bold"/>
              </a:defRPr>
            </a:lvl1pPr>
          </a:lstStyle>
          <a:p>
            <a:pPr/>
            <a:r>
              <a:t>Безмен Максим</a:t>
            </a:r>
          </a:p>
        </p:txBody>
      </p:sp>
      <p:sp>
        <p:nvSpPr>
          <p:cNvPr id="161" name="Text 9"/>
          <p:cNvSpPr txBox="1"/>
          <p:nvPr/>
        </p:nvSpPr>
        <p:spPr>
          <a:xfrm>
            <a:off x="4728045" y="1603325"/>
            <a:ext cx="1941179" cy="139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ct val="125000"/>
              </a:lnSpc>
              <a:defRPr i="1" sz="900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</a:lstStyle>
          <a:p>
            <a:pPr/>
            <a:r>
              <a:t>Технический разработчик / арт и UI</a:t>
            </a:r>
          </a:p>
        </p:txBody>
      </p:sp>
      <p:sp>
        <p:nvSpPr>
          <p:cNvPr id="162" name="Text 10"/>
          <p:cNvSpPr txBox="1"/>
          <p:nvPr/>
        </p:nvSpPr>
        <p:spPr>
          <a:xfrm>
            <a:off x="4728045" y="1886991"/>
            <a:ext cx="3924599" cy="10819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/>
          <a:p>
            <a:pPr marL="193039" indent="-193039">
              <a:lnSpc>
                <a:spcPct val="125000"/>
              </a:lnSpc>
              <a:buSzPct val="100000"/>
              <a:buChar char="•"/>
              <a:defRPr sz="900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defRPr>
            </a:pPr>
            <a:r>
              <a:t>UI/UX дизайн меню</a:t>
            </a:r>
          </a:p>
          <a:p>
            <a:pPr marL="193039" indent="-193039">
              <a:lnSpc>
                <a:spcPct val="125000"/>
              </a:lnSpc>
              <a:buSzPct val="100000"/>
              <a:buChar char="•"/>
              <a:defRPr sz="900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defRPr>
            </a:pPr>
            <a:r>
              <a:t>Графические эффекты и анимации</a:t>
            </a:r>
          </a:p>
          <a:p>
            <a:pPr marL="193039" indent="-193039">
              <a:lnSpc>
                <a:spcPct val="125000"/>
              </a:lnSpc>
              <a:buSzPct val="100000"/>
              <a:buChar char="•"/>
              <a:defRPr sz="900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defRPr>
            </a:pPr>
            <a:r>
              <a:t>Камера и рендеринг</a:t>
            </a:r>
          </a:p>
          <a:p>
            <a:pPr marL="193039" indent="-193039">
              <a:lnSpc>
                <a:spcPct val="125000"/>
              </a:lnSpc>
              <a:buSzPct val="100000"/>
              <a:buChar char="•"/>
              <a:defRPr sz="900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defRPr>
            </a:pPr>
            <a:r>
              <a:t>Оптимизация производительности</a:t>
            </a:r>
          </a:p>
          <a:p>
            <a:pPr marL="193039" indent="-193039">
              <a:lnSpc>
                <a:spcPct val="125000"/>
              </a:lnSpc>
              <a:buSzPct val="100000"/>
              <a:buChar char="•"/>
              <a:defRPr sz="900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defRPr>
            </a:pPr>
            <a:r>
              <a:t>TDD</a:t>
            </a:r>
          </a:p>
        </p:txBody>
      </p:sp>
      <p:sp>
        <p:nvSpPr>
          <p:cNvPr id="163" name="Text 11"/>
          <p:cNvSpPr txBox="1"/>
          <p:nvPr/>
        </p:nvSpPr>
        <p:spPr>
          <a:xfrm>
            <a:off x="4728045" y="3066603"/>
            <a:ext cx="3924599" cy="37207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/>
          <a:p>
            <a:pPr>
              <a:lnSpc>
                <a:spcPct val="125000"/>
              </a:lnSpc>
              <a:defRPr b="1" sz="900">
                <a:solidFill>
                  <a:srgbClr val="333F70"/>
                </a:solidFill>
                <a:latin typeface="Open Sans Bold"/>
                <a:ea typeface="Open Sans Bold"/>
                <a:cs typeface="Open Sans Bold"/>
                <a:sym typeface="Open Sans Bold"/>
              </a:defRPr>
            </a:pPr>
            <a:r>
              <a:t>Модули:</a:t>
            </a:r>
            <a:r>
              <a:rPr b="0">
                <a:latin typeface="Open Sans"/>
                <a:ea typeface="Open Sans"/>
                <a:cs typeface="Open Sans"/>
                <a:sym typeface="Open Sans"/>
              </a:rPr>
              <a:t> menu.py, hud.py, camera.py, эффекты способностей, рекорды</a:t>
            </a:r>
          </a:p>
        </p:txBody>
      </p:sp>
      <p:sp>
        <p:nvSpPr>
          <p:cNvPr id="164" name="Shape 12"/>
          <p:cNvSpPr/>
          <p:nvPr/>
        </p:nvSpPr>
        <p:spPr>
          <a:xfrm>
            <a:off x="4728045" y="3591669"/>
            <a:ext cx="3924599" cy="14289"/>
          </a:xfrm>
          <a:prstGeom prst="roundRect">
            <a:avLst>
              <a:gd name="adj" fmla="val 50000"/>
            </a:avLst>
          </a:prstGeom>
          <a:solidFill>
            <a:srgbClr val="333F70">
              <a:alpha val="50000"/>
            </a:srgbClr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65" name="Text 13"/>
          <p:cNvSpPr txBox="1"/>
          <p:nvPr/>
        </p:nvSpPr>
        <p:spPr>
          <a:xfrm>
            <a:off x="4728045" y="3758951"/>
            <a:ext cx="1501057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ct val="104000"/>
              </a:lnSpc>
              <a:defRPr b="1" sz="1200">
                <a:solidFill>
                  <a:srgbClr val="333F70"/>
                </a:solidFill>
                <a:latin typeface="Unbounded Bold"/>
                <a:ea typeface="Unbounded Bold"/>
                <a:cs typeface="Unbounded Bold"/>
                <a:sym typeface="Unbounded Bold"/>
              </a:defRPr>
            </a:lvl1pPr>
          </a:lstStyle>
          <a:p>
            <a:pPr/>
            <a:r>
              <a:t>Совместная работа</a:t>
            </a:r>
          </a:p>
        </p:txBody>
      </p:sp>
      <p:sp>
        <p:nvSpPr>
          <p:cNvPr id="166" name="Text 14"/>
          <p:cNvSpPr txBox="1"/>
          <p:nvPr/>
        </p:nvSpPr>
        <p:spPr>
          <a:xfrm>
            <a:off x="4728045" y="4061295"/>
            <a:ext cx="3924599" cy="63400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/>
          <a:p>
            <a:pPr marL="193039" indent="-193039">
              <a:lnSpc>
                <a:spcPct val="125000"/>
              </a:lnSpc>
              <a:buSzPct val="100000"/>
              <a:buChar char="•"/>
              <a:defRPr b="1" sz="900">
                <a:solidFill>
                  <a:srgbClr val="333F70"/>
                </a:solidFill>
                <a:latin typeface="Open Sans Bold"/>
                <a:ea typeface="Open Sans Bold"/>
                <a:cs typeface="Open Sans Bold"/>
                <a:sym typeface="Open Sans Bold"/>
              </a:defRPr>
            </a:pPr>
            <a:r>
              <a:t>Git:</a:t>
            </a:r>
            <a:r>
              <a:rPr b="0">
                <a:latin typeface="Open Sans"/>
                <a:ea typeface="Open Sans"/>
                <a:cs typeface="Open Sans"/>
                <a:sym typeface="Open Sans"/>
              </a:rPr>
              <a:t> feature branches → PR → review → merge</a:t>
            </a:r>
          </a:p>
          <a:p>
            <a:pPr marL="193039" indent="-193039">
              <a:lnSpc>
                <a:spcPct val="125000"/>
              </a:lnSpc>
              <a:buSzPct val="100000"/>
              <a:buChar char="•"/>
              <a:defRPr b="1" sz="900">
                <a:solidFill>
                  <a:srgbClr val="333F70"/>
                </a:solidFill>
                <a:latin typeface="Open Sans Bold"/>
                <a:ea typeface="Open Sans Bold"/>
                <a:cs typeface="Open Sans Bold"/>
                <a:sym typeface="Open Sans Bold"/>
              </a:defRPr>
            </a:pPr>
            <a:r>
              <a:t>Планирование:</a:t>
            </a:r>
            <a:r>
              <a:rPr b="0">
                <a:latin typeface="Open Sans"/>
                <a:ea typeface="Open Sans"/>
                <a:cs typeface="Open Sans"/>
                <a:sym typeface="Open Sans"/>
              </a:rPr>
              <a:t> еженедельные встречи</a:t>
            </a:r>
          </a:p>
          <a:p>
            <a:pPr marL="193039" indent="-193039">
              <a:lnSpc>
                <a:spcPct val="125000"/>
              </a:lnSpc>
              <a:buSzPct val="100000"/>
              <a:buChar char="•"/>
              <a:defRPr b="1" sz="900">
                <a:solidFill>
                  <a:srgbClr val="333F70"/>
                </a:solidFill>
                <a:latin typeface="Open Sans Bold"/>
                <a:ea typeface="Open Sans Bold"/>
                <a:cs typeface="Open Sans Bold"/>
                <a:sym typeface="Open Sans Bold"/>
              </a:defRPr>
            </a:pPr>
            <a:r>
              <a:t>Коммуникация:</a:t>
            </a:r>
            <a:r>
              <a:rPr b="0">
                <a:latin typeface="Open Sans"/>
                <a:ea typeface="Open Sans"/>
                <a:cs typeface="Open Sans"/>
                <a:sym typeface="Open Sans"/>
              </a:rPr>
              <a:t> Telegram, Discord</a:t>
            </a:r>
          </a:p>
        </p:txBody>
      </p:sp>
      <p:sp>
        <p:nvSpPr>
          <p:cNvPr id="167" name="Rectangle"/>
          <p:cNvSpPr/>
          <p:nvPr/>
        </p:nvSpPr>
        <p:spPr>
          <a:xfrm>
            <a:off x="8019377" y="4594693"/>
            <a:ext cx="1091448" cy="516619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9" rIns="45719" anchor="ctr"/>
          <a:lstStyle/>
          <a:p>
            <a:pPr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Shape 0"/>
          <p:cNvSpPr/>
          <p:nvPr/>
        </p:nvSpPr>
        <p:spPr>
          <a:xfrm>
            <a:off x="496118" y="430187"/>
            <a:ext cx="583928" cy="114375"/>
          </a:xfrm>
          <a:prstGeom prst="roundRect">
            <a:avLst>
              <a:gd name="adj" fmla="val 22125"/>
            </a:avLst>
          </a:prstGeom>
          <a:solidFill>
            <a:srgbClr val="D6F5EE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70" name="Text 1"/>
          <p:cNvSpPr txBox="1"/>
          <p:nvPr/>
        </p:nvSpPr>
        <p:spPr>
          <a:xfrm>
            <a:off x="541287" y="452735"/>
            <a:ext cx="44693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ct val="96000"/>
              </a:lnSpc>
              <a:defRPr sz="400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</a:lstStyle>
          <a:p>
            <a:pPr/>
            <a:r>
              <a:t>ДЕМОНСТРАЦИЯ</a:t>
            </a:r>
          </a:p>
        </p:txBody>
      </p:sp>
      <p:sp>
        <p:nvSpPr>
          <p:cNvPr id="171" name="Text 2"/>
          <p:cNvSpPr txBox="1"/>
          <p:nvPr/>
        </p:nvSpPr>
        <p:spPr>
          <a:xfrm>
            <a:off x="496119" y="560560"/>
            <a:ext cx="1674106" cy="215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ct val="104000"/>
              </a:lnSpc>
              <a:defRPr b="1" sz="1400">
                <a:solidFill>
                  <a:srgbClr val="333F70"/>
                </a:solidFill>
                <a:latin typeface="Unbounded Bold"/>
                <a:ea typeface="Unbounded Bold"/>
                <a:cs typeface="Unbounded Bold"/>
                <a:sym typeface="Unbounded Bold"/>
              </a:defRPr>
            </a:lvl1pPr>
          </a:lstStyle>
          <a:p>
            <a:pPr/>
            <a:r>
              <a:t>Живой показ игры</a:t>
            </a:r>
          </a:p>
        </p:txBody>
      </p:sp>
      <p:sp>
        <p:nvSpPr>
          <p:cNvPr id="172" name="Text 3"/>
          <p:cNvSpPr txBox="1"/>
          <p:nvPr/>
        </p:nvSpPr>
        <p:spPr>
          <a:xfrm>
            <a:off x="496118" y="895795"/>
            <a:ext cx="1169704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ct val="104000"/>
              </a:lnSpc>
              <a:defRPr b="1" sz="700">
                <a:solidFill>
                  <a:srgbClr val="333F70"/>
                </a:solidFill>
                <a:latin typeface="Unbounded Bold"/>
                <a:ea typeface="Unbounded Bold"/>
                <a:cs typeface="Unbounded Bold"/>
                <a:sym typeface="Unbounded Bold"/>
              </a:defRPr>
            </a:lvl1pPr>
          </a:lstStyle>
          <a:p>
            <a:pPr/>
            <a:r>
              <a:t>Что показываем (1–2 мин)</a:t>
            </a:r>
          </a:p>
        </p:txBody>
      </p:sp>
      <p:sp>
        <p:nvSpPr>
          <p:cNvPr id="173" name="Text 4"/>
          <p:cNvSpPr txBox="1"/>
          <p:nvPr/>
        </p:nvSpPr>
        <p:spPr>
          <a:xfrm>
            <a:off x="496118" y="1041958"/>
            <a:ext cx="12700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 anchor="ctr">
            <a:spAutoFit/>
          </a:bodyPr>
          <a:lstStyle>
            <a:lvl1pPr>
              <a:defRPr sz="500">
                <a:solidFill>
                  <a:srgbClr val="333F70"/>
                </a:solidFill>
                <a:latin typeface="Unbounded Light"/>
                <a:ea typeface="Unbounded Light"/>
                <a:cs typeface="Unbounded Light"/>
                <a:sym typeface="Unbounded Light"/>
              </a:defRPr>
            </a:lvl1pPr>
          </a:lstStyle>
          <a:p>
            <a:pPr/>
            <a:r>
              <a:t>01</a:t>
            </a:r>
          </a:p>
        </p:txBody>
      </p:sp>
      <p:sp>
        <p:nvSpPr>
          <p:cNvPr id="174" name="Shape 5"/>
          <p:cNvSpPr/>
          <p:nvPr/>
        </p:nvSpPr>
        <p:spPr>
          <a:xfrm>
            <a:off x="496118" y="1175270"/>
            <a:ext cx="3984056" cy="12701"/>
          </a:xfrm>
          <a:prstGeom prst="rect">
            <a:avLst/>
          </a:prstGeom>
          <a:solidFill>
            <a:srgbClr val="26A688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75" name="Text 6"/>
          <p:cNvSpPr txBox="1"/>
          <p:nvPr/>
        </p:nvSpPr>
        <p:spPr>
          <a:xfrm>
            <a:off x="496118" y="1233562"/>
            <a:ext cx="64937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ct val="104000"/>
              </a:lnSpc>
              <a:defRPr b="1" sz="700">
                <a:solidFill>
                  <a:srgbClr val="333F70"/>
                </a:solidFill>
                <a:latin typeface="Unbounded Bold"/>
                <a:ea typeface="Unbounded Bold"/>
                <a:cs typeface="Unbounded Bold"/>
                <a:sym typeface="Unbounded Bold"/>
              </a:defRPr>
            </a:lvl1pPr>
          </a:lstStyle>
          <a:p>
            <a:pPr/>
            <a:r>
              <a:t>Главное меню</a:t>
            </a:r>
          </a:p>
        </p:txBody>
      </p:sp>
      <p:sp>
        <p:nvSpPr>
          <p:cNvPr id="176" name="Text 7"/>
          <p:cNvSpPr txBox="1"/>
          <p:nvPr/>
        </p:nvSpPr>
        <p:spPr>
          <a:xfrm>
            <a:off x="496118" y="1391170"/>
            <a:ext cx="926816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ct val="102000"/>
              </a:lnSpc>
              <a:defRPr sz="500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</a:lstStyle>
          <a:p>
            <a:pPr/>
            <a:r>
              <a:t>Анимация облаков, навигация</a:t>
            </a:r>
          </a:p>
        </p:txBody>
      </p:sp>
      <p:sp>
        <p:nvSpPr>
          <p:cNvPr id="177" name="Text 8"/>
          <p:cNvSpPr txBox="1"/>
          <p:nvPr/>
        </p:nvSpPr>
        <p:spPr>
          <a:xfrm>
            <a:off x="496118" y="1563378"/>
            <a:ext cx="12700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 anchor="ctr">
            <a:spAutoFit/>
          </a:bodyPr>
          <a:lstStyle>
            <a:lvl1pPr>
              <a:defRPr sz="500">
                <a:solidFill>
                  <a:srgbClr val="333F70"/>
                </a:solidFill>
                <a:latin typeface="Unbounded Light"/>
                <a:ea typeface="Unbounded Light"/>
                <a:cs typeface="Unbounded Light"/>
                <a:sym typeface="Unbounded Light"/>
              </a:defRPr>
            </a:lvl1pPr>
          </a:lstStyle>
          <a:p>
            <a:pPr/>
            <a:r>
              <a:t>02</a:t>
            </a:r>
          </a:p>
        </p:txBody>
      </p:sp>
      <p:sp>
        <p:nvSpPr>
          <p:cNvPr id="178" name="Shape 9"/>
          <p:cNvSpPr/>
          <p:nvPr/>
        </p:nvSpPr>
        <p:spPr>
          <a:xfrm>
            <a:off x="496118" y="1696690"/>
            <a:ext cx="3984056" cy="12701"/>
          </a:xfrm>
          <a:prstGeom prst="rect">
            <a:avLst/>
          </a:prstGeom>
          <a:solidFill>
            <a:srgbClr val="26A688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79" name="Text 10"/>
          <p:cNvSpPr txBox="1"/>
          <p:nvPr/>
        </p:nvSpPr>
        <p:spPr>
          <a:xfrm>
            <a:off x="496118" y="1754981"/>
            <a:ext cx="581826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ct val="104000"/>
              </a:lnSpc>
              <a:defRPr b="1" sz="700">
                <a:solidFill>
                  <a:srgbClr val="333F70"/>
                </a:solidFill>
                <a:latin typeface="Unbounded Bold"/>
                <a:ea typeface="Unbounded Bold"/>
                <a:cs typeface="Unbounded Bold"/>
                <a:sym typeface="Unbounded Bold"/>
              </a:defRPr>
            </a:lvl1pPr>
          </a:lstStyle>
          <a:p>
            <a:pPr/>
            <a:r>
              <a:t>Начало игры</a:t>
            </a:r>
          </a:p>
        </p:txBody>
      </p:sp>
      <p:sp>
        <p:nvSpPr>
          <p:cNvPr id="180" name="Text 11"/>
          <p:cNvSpPr txBox="1"/>
          <p:nvPr/>
        </p:nvSpPr>
        <p:spPr>
          <a:xfrm>
            <a:off x="496118" y="1912590"/>
            <a:ext cx="1241247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ct val="102000"/>
              </a:lnSpc>
              <a:defRPr sz="500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</a:lstStyle>
          <a:p>
            <a:pPr/>
            <a:r>
              <a:t>Спавн первой волны, базовая автоатака</a:t>
            </a:r>
          </a:p>
        </p:txBody>
      </p:sp>
      <p:sp>
        <p:nvSpPr>
          <p:cNvPr id="181" name="Text 12"/>
          <p:cNvSpPr txBox="1"/>
          <p:nvPr/>
        </p:nvSpPr>
        <p:spPr>
          <a:xfrm>
            <a:off x="496118" y="2084797"/>
            <a:ext cx="12700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 anchor="ctr">
            <a:spAutoFit/>
          </a:bodyPr>
          <a:lstStyle>
            <a:lvl1pPr>
              <a:defRPr sz="500">
                <a:solidFill>
                  <a:srgbClr val="333F70"/>
                </a:solidFill>
                <a:latin typeface="Unbounded Light"/>
                <a:ea typeface="Unbounded Light"/>
                <a:cs typeface="Unbounded Light"/>
                <a:sym typeface="Unbounded Light"/>
              </a:defRPr>
            </a:lvl1pPr>
          </a:lstStyle>
          <a:p>
            <a:pPr/>
            <a:r>
              <a:t>03</a:t>
            </a:r>
          </a:p>
        </p:txBody>
      </p:sp>
      <p:sp>
        <p:nvSpPr>
          <p:cNvPr id="182" name="Shape 13"/>
          <p:cNvSpPr/>
          <p:nvPr/>
        </p:nvSpPr>
        <p:spPr>
          <a:xfrm>
            <a:off x="496118" y="2218109"/>
            <a:ext cx="3984056" cy="12701"/>
          </a:xfrm>
          <a:prstGeom prst="rect">
            <a:avLst/>
          </a:prstGeom>
          <a:solidFill>
            <a:srgbClr val="26A688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83" name="Text 14"/>
          <p:cNvSpPr txBox="1"/>
          <p:nvPr/>
        </p:nvSpPr>
        <p:spPr>
          <a:xfrm>
            <a:off x="496118" y="2276400"/>
            <a:ext cx="538635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ct val="104000"/>
              </a:lnSpc>
              <a:defRPr b="1" sz="700">
                <a:solidFill>
                  <a:srgbClr val="333F70"/>
                </a:solidFill>
                <a:latin typeface="Unbounded Bold"/>
                <a:ea typeface="Unbounded Bold"/>
                <a:cs typeface="Unbounded Bold"/>
                <a:sym typeface="Unbounded Bold"/>
              </a:defRPr>
            </a:lvl1pPr>
          </a:lstStyle>
          <a:p>
            <a:pPr/>
            <a:r>
              <a:t>Сбор опыта</a:t>
            </a:r>
          </a:p>
        </p:txBody>
      </p:sp>
      <p:sp>
        <p:nvSpPr>
          <p:cNvPr id="184" name="Text 15"/>
          <p:cNvSpPr txBox="1"/>
          <p:nvPr/>
        </p:nvSpPr>
        <p:spPr>
          <a:xfrm>
            <a:off x="496118" y="2434009"/>
            <a:ext cx="1067304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ct val="102000"/>
              </a:lnSpc>
              <a:defRPr sz="500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</a:lstStyle>
          <a:p>
            <a:pPr/>
            <a:r>
              <a:t>Магнит дропов, повышение уровня</a:t>
            </a:r>
          </a:p>
        </p:txBody>
      </p:sp>
      <p:sp>
        <p:nvSpPr>
          <p:cNvPr id="185" name="Text 16"/>
          <p:cNvSpPr txBox="1"/>
          <p:nvPr/>
        </p:nvSpPr>
        <p:spPr>
          <a:xfrm>
            <a:off x="496118" y="2606216"/>
            <a:ext cx="12700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 anchor="ctr">
            <a:spAutoFit/>
          </a:bodyPr>
          <a:lstStyle>
            <a:lvl1pPr>
              <a:defRPr sz="500">
                <a:solidFill>
                  <a:srgbClr val="333F70"/>
                </a:solidFill>
                <a:latin typeface="Unbounded Light"/>
                <a:ea typeface="Unbounded Light"/>
                <a:cs typeface="Unbounded Light"/>
                <a:sym typeface="Unbounded Light"/>
              </a:defRPr>
            </a:lvl1pPr>
          </a:lstStyle>
          <a:p>
            <a:pPr/>
            <a:r>
              <a:t>04</a:t>
            </a:r>
          </a:p>
        </p:txBody>
      </p:sp>
      <p:sp>
        <p:nvSpPr>
          <p:cNvPr id="186" name="Shape 17"/>
          <p:cNvSpPr/>
          <p:nvPr/>
        </p:nvSpPr>
        <p:spPr>
          <a:xfrm>
            <a:off x="496118" y="2739528"/>
            <a:ext cx="3984056" cy="12701"/>
          </a:xfrm>
          <a:prstGeom prst="rect">
            <a:avLst/>
          </a:prstGeom>
          <a:solidFill>
            <a:srgbClr val="26A688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87" name="Text 18"/>
          <p:cNvSpPr txBox="1"/>
          <p:nvPr/>
        </p:nvSpPr>
        <p:spPr>
          <a:xfrm>
            <a:off x="496118" y="2797819"/>
            <a:ext cx="759583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ct val="104000"/>
              </a:lnSpc>
              <a:defRPr b="1" sz="700">
                <a:solidFill>
                  <a:srgbClr val="333F70"/>
                </a:solidFill>
                <a:latin typeface="Unbounded Bold"/>
                <a:ea typeface="Unbounded Bold"/>
                <a:cs typeface="Unbounded Bold"/>
                <a:sym typeface="Unbounded Bold"/>
              </a:defRPr>
            </a:lvl1pPr>
          </a:lstStyle>
          <a:p>
            <a:pPr/>
            <a:r>
              <a:t>Выбор усилений</a:t>
            </a:r>
          </a:p>
        </p:txBody>
      </p:sp>
      <p:sp>
        <p:nvSpPr>
          <p:cNvPr id="188" name="Text 19"/>
          <p:cNvSpPr txBox="1"/>
          <p:nvPr/>
        </p:nvSpPr>
        <p:spPr>
          <a:xfrm>
            <a:off x="496118" y="2955428"/>
            <a:ext cx="1083024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ct val="102000"/>
              </a:lnSpc>
              <a:defRPr sz="500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</a:lstStyle>
          <a:p>
            <a:pPr/>
            <a:r>
              <a:t>Экран Level Up, выбор способности</a:t>
            </a:r>
          </a:p>
        </p:txBody>
      </p:sp>
      <p:sp>
        <p:nvSpPr>
          <p:cNvPr id="189" name="Text 20"/>
          <p:cNvSpPr txBox="1"/>
          <p:nvPr/>
        </p:nvSpPr>
        <p:spPr>
          <a:xfrm>
            <a:off x="496118" y="3127636"/>
            <a:ext cx="12700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 anchor="ctr">
            <a:spAutoFit/>
          </a:bodyPr>
          <a:lstStyle>
            <a:lvl1pPr>
              <a:defRPr sz="500">
                <a:solidFill>
                  <a:srgbClr val="333F70"/>
                </a:solidFill>
                <a:latin typeface="Unbounded Light"/>
                <a:ea typeface="Unbounded Light"/>
                <a:cs typeface="Unbounded Light"/>
                <a:sym typeface="Unbounded Light"/>
              </a:defRPr>
            </a:lvl1pPr>
          </a:lstStyle>
          <a:p>
            <a:pPr/>
            <a:r>
              <a:t>05</a:t>
            </a:r>
          </a:p>
        </p:txBody>
      </p:sp>
      <p:sp>
        <p:nvSpPr>
          <p:cNvPr id="190" name="Shape 21"/>
          <p:cNvSpPr/>
          <p:nvPr/>
        </p:nvSpPr>
        <p:spPr>
          <a:xfrm>
            <a:off x="496118" y="3260948"/>
            <a:ext cx="3984056" cy="12701"/>
          </a:xfrm>
          <a:prstGeom prst="rect">
            <a:avLst/>
          </a:prstGeom>
          <a:solidFill>
            <a:srgbClr val="26A688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91" name="Text 22"/>
          <p:cNvSpPr txBox="1"/>
          <p:nvPr/>
        </p:nvSpPr>
        <p:spPr>
          <a:xfrm>
            <a:off x="496118" y="3319238"/>
            <a:ext cx="814147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ct val="104000"/>
              </a:lnSpc>
              <a:defRPr b="1" sz="700">
                <a:solidFill>
                  <a:srgbClr val="333F70"/>
                </a:solidFill>
                <a:latin typeface="Unbounded Bold"/>
                <a:ea typeface="Unbounded Bold"/>
                <a:cs typeface="Unbounded Bold"/>
                <a:sym typeface="Unbounded Bold"/>
              </a:defRPr>
            </a:lvl1pPr>
          </a:lstStyle>
          <a:p>
            <a:pPr/>
            <a:r>
              <a:t>Усложнение волн</a:t>
            </a:r>
          </a:p>
        </p:txBody>
      </p:sp>
      <p:sp>
        <p:nvSpPr>
          <p:cNvPr id="192" name="Text 23"/>
          <p:cNvSpPr txBox="1"/>
          <p:nvPr/>
        </p:nvSpPr>
        <p:spPr>
          <a:xfrm>
            <a:off x="496118" y="3476847"/>
            <a:ext cx="851193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ct val="102000"/>
              </a:lnSpc>
              <a:defRPr sz="500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</a:lstStyle>
          <a:p>
            <a:pPr/>
            <a:r>
              <a:t>Больше врагов, новые типы</a:t>
            </a:r>
          </a:p>
        </p:txBody>
      </p:sp>
      <p:sp>
        <p:nvSpPr>
          <p:cNvPr id="193" name="Text 24"/>
          <p:cNvSpPr txBox="1"/>
          <p:nvPr/>
        </p:nvSpPr>
        <p:spPr>
          <a:xfrm>
            <a:off x="496118" y="3649054"/>
            <a:ext cx="12700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 anchor="ctr">
            <a:spAutoFit/>
          </a:bodyPr>
          <a:lstStyle>
            <a:lvl1pPr>
              <a:defRPr sz="500">
                <a:solidFill>
                  <a:srgbClr val="333F70"/>
                </a:solidFill>
                <a:latin typeface="Unbounded Light"/>
                <a:ea typeface="Unbounded Light"/>
                <a:cs typeface="Unbounded Light"/>
                <a:sym typeface="Unbounded Light"/>
              </a:defRPr>
            </a:lvl1pPr>
          </a:lstStyle>
          <a:p>
            <a:pPr/>
            <a:r>
              <a:t>06</a:t>
            </a:r>
          </a:p>
        </p:txBody>
      </p:sp>
      <p:sp>
        <p:nvSpPr>
          <p:cNvPr id="194" name="Shape 25"/>
          <p:cNvSpPr/>
          <p:nvPr/>
        </p:nvSpPr>
        <p:spPr>
          <a:xfrm>
            <a:off x="496118" y="3782367"/>
            <a:ext cx="3984056" cy="12701"/>
          </a:xfrm>
          <a:prstGeom prst="rect">
            <a:avLst/>
          </a:prstGeom>
          <a:solidFill>
            <a:srgbClr val="26A688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95" name="Text 26"/>
          <p:cNvSpPr txBox="1"/>
          <p:nvPr/>
        </p:nvSpPr>
        <p:spPr>
          <a:xfrm>
            <a:off x="496118" y="3840658"/>
            <a:ext cx="1056018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ct val="104000"/>
              </a:lnSpc>
              <a:defRPr b="1" sz="700">
                <a:solidFill>
                  <a:srgbClr val="333F70"/>
                </a:solidFill>
                <a:latin typeface="Unbounded Bold"/>
                <a:ea typeface="Unbounded Bold"/>
                <a:cs typeface="Unbounded Bold"/>
                <a:sym typeface="Unbounded Bold"/>
              </a:defRPr>
            </a:lvl1pPr>
          </a:lstStyle>
          <a:p>
            <a:pPr/>
            <a:r>
              <a:t>Активные способности</a:t>
            </a:r>
          </a:p>
        </p:txBody>
      </p:sp>
      <p:sp>
        <p:nvSpPr>
          <p:cNvPr id="196" name="Text 27"/>
          <p:cNvSpPr txBox="1"/>
          <p:nvPr/>
        </p:nvSpPr>
        <p:spPr>
          <a:xfrm>
            <a:off x="496118" y="3998267"/>
            <a:ext cx="1031585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ct val="102000"/>
              </a:lnSpc>
              <a:defRPr sz="500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</a:lstStyle>
          <a:p>
            <a:pPr/>
            <a:r>
              <a:t>Огненная аура, молния, метеорит</a:t>
            </a:r>
          </a:p>
        </p:txBody>
      </p:sp>
      <p:sp>
        <p:nvSpPr>
          <p:cNvPr id="197" name="Text 28"/>
          <p:cNvSpPr txBox="1"/>
          <p:nvPr/>
        </p:nvSpPr>
        <p:spPr>
          <a:xfrm>
            <a:off x="496118" y="4170473"/>
            <a:ext cx="12700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 anchor="ctr">
            <a:spAutoFit/>
          </a:bodyPr>
          <a:lstStyle>
            <a:lvl1pPr>
              <a:defRPr sz="500">
                <a:solidFill>
                  <a:srgbClr val="333F70"/>
                </a:solidFill>
                <a:latin typeface="Unbounded Light"/>
                <a:ea typeface="Unbounded Light"/>
                <a:cs typeface="Unbounded Light"/>
                <a:sym typeface="Unbounded Light"/>
              </a:defRPr>
            </a:lvl1pPr>
          </a:lstStyle>
          <a:p>
            <a:pPr/>
            <a:r>
              <a:t>07</a:t>
            </a:r>
          </a:p>
        </p:txBody>
      </p:sp>
      <p:sp>
        <p:nvSpPr>
          <p:cNvPr id="198" name="Shape 29"/>
          <p:cNvSpPr/>
          <p:nvPr/>
        </p:nvSpPr>
        <p:spPr>
          <a:xfrm>
            <a:off x="496118" y="4303786"/>
            <a:ext cx="3984056" cy="12701"/>
          </a:xfrm>
          <a:prstGeom prst="rect">
            <a:avLst/>
          </a:prstGeom>
          <a:solidFill>
            <a:srgbClr val="26A688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99" name="Text 30"/>
          <p:cNvSpPr txBox="1"/>
          <p:nvPr/>
        </p:nvSpPr>
        <p:spPr>
          <a:xfrm>
            <a:off x="496118" y="4362077"/>
            <a:ext cx="302885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ct val="104000"/>
              </a:lnSpc>
              <a:defRPr b="1" sz="700">
                <a:solidFill>
                  <a:srgbClr val="333F70"/>
                </a:solidFill>
                <a:latin typeface="Unbounded Bold"/>
                <a:ea typeface="Unbounded Bold"/>
                <a:cs typeface="Unbounded Bold"/>
                <a:sym typeface="Unbounded Bold"/>
              </a:defRPr>
            </a:lvl1pPr>
          </a:lstStyle>
          <a:p>
            <a:pPr/>
            <a:r>
              <a:t>Финал</a:t>
            </a:r>
          </a:p>
        </p:txBody>
      </p:sp>
      <p:sp>
        <p:nvSpPr>
          <p:cNvPr id="200" name="Text 31"/>
          <p:cNvSpPr txBox="1"/>
          <p:nvPr/>
        </p:nvSpPr>
        <p:spPr>
          <a:xfrm>
            <a:off x="496118" y="4519686"/>
            <a:ext cx="987929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ct val="102000"/>
              </a:lnSpc>
              <a:defRPr sz="500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</a:lstStyle>
          <a:p>
            <a:pPr/>
            <a:r>
              <a:t>Game Over, сохранение рекорда</a:t>
            </a:r>
          </a:p>
        </p:txBody>
      </p:sp>
      <p:sp>
        <p:nvSpPr>
          <p:cNvPr id="201" name="Text 32"/>
          <p:cNvSpPr txBox="1"/>
          <p:nvPr/>
        </p:nvSpPr>
        <p:spPr>
          <a:xfrm>
            <a:off x="4668589" y="895795"/>
            <a:ext cx="110407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ct val="104000"/>
              </a:lnSpc>
              <a:defRPr b="1" sz="700">
                <a:solidFill>
                  <a:srgbClr val="333F70"/>
                </a:solidFill>
                <a:latin typeface="Unbounded Bold"/>
                <a:ea typeface="Unbounded Bold"/>
                <a:cs typeface="Unbounded Bold"/>
                <a:sym typeface="Unbounded Bold"/>
              </a:defRPr>
            </a:lvl1pPr>
          </a:lstStyle>
          <a:p>
            <a:pPr/>
            <a:r>
              <a:t>Ключевые комментарии</a:t>
            </a:r>
          </a:p>
        </p:txBody>
      </p:sp>
      <p:pic>
        <p:nvPicPr>
          <p:cNvPr id="202" name="Image 0" descr="Image 0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4668589" y="1058391"/>
            <a:ext cx="1972048" cy="511672"/>
          </a:xfrm>
          <a:prstGeom prst="rect">
            <a:avLst/>
          </a:prstGeom>
          <a:ln w="12700">
            <a:miter lim="400000"/>
          </a:ln>
        </p:spPr>
      </p:pic>
      <p:sp>
        <p:nvSpPr>
          <p:cNvPr id="203" name="Text 33"/>
          <p:cNvSpPr txBox="1"/>
          <p:nvPr/>
        </p:nvSpPr>
        <p:spPr>
          <a:xfrm>
            <a:off x="4791521" y="1143223"/>
            <a:ext cx="447434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ct val="104000"/>
              </a:lnSpc>
              <a:defRPr b="1" sz="700">
                <a:solidFill>
                  <a:srgbClr val="333F70"/>
                </a:solidFill>
                <a:latin typeface="Unbounded Bold"/>
                <a:ea typeface="Unbounded Bold"/>
                <a:cs typeface="Unbounded Bold"/>
                <a:sym typeface="Unbounded Bold"/>
              </a:defRPr>
            </a:lvl1pPr>
          </a:lstStyle>
          <a:p>
            <a:pPr/>
            <a:r>
              <a:t>Механика</a:t>
            </a:r>
          </a:p>
        </p:txBody>
      </p:sp>
      <p:sp>
        <p:nvSpPr>
          <p:cNvPr id="204" name="Text 34"/>
          <p:cNvSpPr txBox="1"/>
          <p:nvPr/>
        </p:nvSpPr>
        <p:spPr>
          <a:xfrm>
            <a:off x="4791521" y="1300832"/>
            <a:ext cx="1764284" cy="1843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lnSpc>
                <a:spcPct val="102000"/>
              </a:lnSpc>
              <a:defRPr sz="500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</a:lstStyle>
          <a:p>
            <a:pPr/>
            <a:r>
              <a:t>«Игрок автоматически стреляет — мне нужно только уклоняться»</a:t>
            </a:r>
          </a:p>
        </p:txBody>
      </p:sp>
      <p:pic>
        <p:nvPicPr>
          <p:cNvPr id="205" name="Image 1" descr="Image 1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6680596" y="1058391"/>
            <a:ext cx="1972048" cy="511672"/>
          </a:xfrm>
          <a:prstGeom prst="rect">
            <a:avLst/>
          </a:prstGeom>
          <a:ln w="12700">
            <a:miter lim="400000"/>
          </a:ln>
        </p:spPr>
      </p:pic>
      <p:sp>
        <p:nvSpPr>
          <p:cNvPr id="206" name="Text 35"/>
          <p:cNvSpPr txBox="1"/>
          <p:nvPr/>
        </p:nvSpPr>
        <p:spPr>
          <a:xfrm>
            <a:off x="6803528" y="1143223"/>
            <a:ext cx="53629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ct val="104000"/>
              </a:lnSpc>
              <a:defRPr b="1" sz="700">
                <a:solidFill>
                  <a:srgbClr val="333F70"/>
                </a:solidFill>
                <a:latin typeface="Unbounded Bold"/>
                <a:ea typeface="Unbounded Bold"/>
                <a:cs typeface="Unbounded Bold"/>
                <a:sym typeface="Unbounded Bold"/>
              </a:defRPr>
            </a:lvl1pPr>
          </a:lstStyle>
          <a:p>
            <a:pPr/>
            <a:r>
              <a:t>Прогрессия</a:t>
            </a:r>
          </a:p>
        </p:txBody>
      </p:sp>
      <p:sp>
        <p:nvSpPr>
          <p:cNvPr id="207" name="Text 36"/>
          <p:cNvSpPr txBox="1"/>
          <p:nvPr/>
        </p:nvSpPr>
        <p:spPr>
          <a:xfrm>
            <a:off x="6803528" y="1300832"/>
            <a:ext cx="1764284" cy="1843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lnSpc>
                <a:spcPct val="102000"/>
              </a:lnSpc>
              <a:defRPr sz="500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</a:lstStyle>
          <a:p>
            <a:pPr/>
            <a:r>
              <a:t>«При Level Up выбираю из 3 вариантов — новая способность или пассивное усиление»</a:t>
            </a:r>
          </a:p>
        </p:txBody>
      </p:sp>
      <p:pic>
        <p:nvPicPr>
          <p:cNvPr id="208" name="Image 2" descr="Image 2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4668589" y="1610023"/>
            <a:ext cx="1972048" cy="511672"/>
          </a:xfrm>
          <a:prstGeom prst="rect">
            <a:avLst/>
          </a:prstGeom>
          <a:ln w="12700">
            <a:miter lim="400000"/>
          </a:ln>
        </p:spPr>
      </p:pic>
      <p:sp>
        <p:nvSpPr>
          <p:cNvPr id="209" name="Text 37"/>
          <p:cNvSpPr txBox="1"/>
          <p:nvPr/>
        </p:nvSpPr>
        <p:spPr>
          <a:xfrm>
            <a:off x="4791521" y="1694855"/>
            <a:ext cx="315039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ct val="104000"/>
              </a:lnSpc>
              <a:defRPr b="1" sz="700">
                <a:solidFill>
                  <a:srgbClr val="333F70"/>
                </a:solidFill>
                <a:latin typeface="Unbounded Bold"/>
                <a:ea typeface="Unbounded Bold"/>
                <a:cs typeface="Unbounded Bold"/>
                <a:sym typeface="Unbounded Bold"/>
              </a:defRPr>
            </a:lvl1pPr>
          </a:lstStyle>
          <a:p>
            <a:pPr/>
            <a:r>
              <a:t>Волны</a:t>
            </a:r>
          </a:p>
        </p:txBody>
      </p:sp>
      <p:sp>
        <p:nvSpPr>
          <p:cNvPr id="210" name="Text 38"/>
          <p:cNvSpPr txBox="1"/>
          <p:nvPr/>
        </p:nvSpPr>
        <p:spPr>
          <a:xfrm>
            <a:off x="4791521" y="1852464"/>
            <a:ext cx="1764284" cy="1843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lnSpc>
                <a:spcPct val="102000"/>
              </a:lnSpc>
              <a:defRPr sz="500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</a:lstStyle>
          <a:p>
            <a:pPr/>
            <a:r>
              <a:t>«Каждая волна плотнее и сильнее, на 4-й появляются средние тиры»</a:t>
            </a:r>
          </a:p>
        </p:txBody>
      </p:sp>
      <p:pic>
        <p:nvPicPr>
          <p:cNvPr id="211" name="Image 3" descr="Image 3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6680596" y="1610023"/>
            <a:ext cx="1972048" cy="511672"/>
          </a:xfrm>
          <a:prstGeom prst="rect">
            <a:avLst/>
          </a:prstGeom>
          <a:ln w="12700">
            <a:miter lim="400000"/>
          </a:ln>
        </p:spPr>
      </p:pic>
      <p:sp>
        <p:nvSpPr>
          <p:cNvPr id="212" name="Text 39"/>
          <p:cNvSpPr txBox="1"/>
          <p:nvPr/>
        </p:nvSpPr>
        <p:spPr>
          <a:xfrm>
            <a:off x="6803528" y="1694855"/>
            <a:ext cx="378329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ct val="104000"/>
              </a:lnSpc>
              <a:defRPr b="1" sz="700">
                <a:solidFill>
                  <a:srgbClr val="333F70"/>
                </a:solidFill>
                <a:latin typeface="Unbounded Bold"/>
                <a:ea typeface="Unbounded Bold"/>
                <a:cs typeface="Unbounded Bold"/>
                <a:sym typeface="Unbounded Bold"/>
              </a:defRPr>
            </a:lvl1pPr>
          </a:lstStyle>
          <a:p>
            <a:pPr/>
            <a:r>
              <a:t>Техника</a:t>
            </a:r>
          </a:p>
        </p:txBody>
      </p:sp>
      <p:sp>
        <p:nvSpPr>
          <p:cNvPr id="213" name="Text 40"/>
          <p:cNvSpPr txBox="1"/>
          <p:nvPr/>
        </p:nvSpPr>
        <p:spPr>
          <a:xfrm>
            <a:off x="6803528" y="1852464"/>
            <a:ext cx="1764284" cy="1843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lnSpc>
                <a:spcPct val="102000"/>
              </a:lnSpc>
              <a:defRPr sz="500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</a:lstStyle>
          <a:p>
            <a:pPr/>
            <a:r>
              <a:t>«Враги спавнятся за камерой, система взвешивания постепенно вытесняет слабых»</a:t>
            </a:r>
          </a:p>
        </p:txBody>
      </p:sp>
      <p:sp>
        <p:nvSpPr>
          <p:cNvPr id="214" name="Rectangle"/>
          <p:cNvSpPr/>
          <p:nvPr/>
        </p:nvSpPr>
        <p:spPr>
          <a:xfrm>
            <a:off x="7728708" y="4276512"/>
            <a:ext cx="1382118" cy="834800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9" rIns="45719" anchor="ctr"/>
          <a:lstStyle/>
          <a:p>
            <a:pPr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Shape 0"/>
          <p:cNvSpPr/>
          <p:nvPr/>
        </p:nvSpPr>
        <p:spPr>
          <a:xfrm>
            <a:off x="496118" y="409872"/>
            <a:ext cx="500212" cy="195115"/>
          </a:xfrm>
          <a:prstGeom prst="roundRect">
            <a:avLst>
              <a:gd name="adj" fmla="val 22125"/>
            </a:avLst>
          </a:prstGeom>
          <a:ln w="4763">
            <a:solidFill>
              <a:srgbClr val="26A688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17" name="Text 1"/>
          <p:cNvSpPr txBox="1"/>
          <p:nvPr/>
        </p:nvSpPr>
        <p:spPr>
          <a:xfrm>
            <a:off x="573137" y="448345"/>
            <a:ext cx="353269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ct val="96000"/>
              </a:lnSpc>
              <a:defRPr sz="800">
                <a:solidFill>
                  <a:srgbClr val="26A688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</a:lstStyle>
          <a:p>
            <a:pPr/>
            <a:r>
              <a:t>ИТОГИ</a:t>
            </a:r>
          </a:p>
        </p:txBody>
      </p:sp>
      <p:sp>
        <p:nvSpPr>
          <p:cNvPr id="218" name="Text 2"/>
          <p:cNvSpPr txBox="1"/>
          <p:nvPr/>
        </p:nvSpPr>
        <p:spPr>
          <a:xfrm>
            <a:off x="496119" y="651495"/>
            <a:ext cx="4849305" cy="381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ct val="104000"/>
              </a:lnSpc>
              <a:defRPr b="1" sz="2500">
                <a:solidFill>
                  <a:srgbClr val="333F70"/>
                </a:solidFill>
                <a:latin typeface="Unbounded Bold"/>
                <a:ea typeface="Unbounded Bold"/>
                <a:cs typeface="Unbounded Bold"/>
                <a:sym typeface="Unbounded Bold"/>
              </a:defRPr>
            </a:lvl1pPr>
          </a:lstStyle>
          <a:p>
            <a:pPr/>
            <a:r>
              <a:t>Результаты и дорожная карта</a:t>
            </a:r>
          </a:p>
        </p:txBody>
      </p:sp>
      <p:sp>
        <p:nvSpPr>
          <p:cNvPr id="219" name="Text 3"/>
          <p:cNvSpPr txBox="1"/>
          <p:nvPr/>
        </p:nvSpPr>
        <p:spPr>
          <a:xfrm>
            <a:off x="496118" y="1343917"/>
            <a:ext cx="1929533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ct val="104000"/>
              </a:lnSpc>
              <a:defRPr b="1" sz="1200">
                <a:solidFill>
                  <a:srgbClr val="333F70"/>
                </a:solidFill>
                <a:latin typeface="Unbounded Bold"/>
                <a:ea typeface="Unbounded Bold"/>
                <a:cs typeface="Unbounded Bold"/>
                <a:sym typeface="Unbounded Bold"/>
              </a:defRPr>
            </a:lvl1pPr>
          </a:lstStyle>
          <a:p>
            <a:pPr/>
            <a:r>
              <a:t>Достигнутые результаты</a:t>
            </a:r>
          </a:p>
        </p:txBody>
      </p:sp>
      <p:sp>
        <p:nvSpPr>
          <p:cNvPr id="220" name="Text 4"/>
          <p:cNvSpPr txBox="1"/>
          <p:nvPr/>
        </p:nvSpPr>
        <p:spPr>
          <a:xfrm>
            <a:off x="496118" y="1660996"/>
            <a:ext cx="3919167" cy="125700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/>
          <a:p>
            <a:pPr marL="203200" indent="-203200">
              <a:lnSpc>
                <a:spcPct val="127000"/>
              </a:lnSpc>
              <a:buSzPct val="100000"/>
              <a:buChar char="•"/>
              <a:defRPr sz="1000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defRPr>
            </a:pPr>
            <a:r>
              <a:t>Полноценный игровой прототип с автоатакой, системой волн, Level Up, 6 типами врагов, 5 способностями и UI</a:t>
            </a:r>
          </a:p>
          <a:p>
            <a:pPr marL="203200" indent="-203200">
              <a:lnSpc>
                <a:spcPct val="127000"/>
              </a:lnSpc>
              <a:buSzPct val="100000"/>
              <a:buChar char="•"/>
              <a:defRPr sz="1000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defRPr>
            </a:pPr>
            <a:r>
              <a:t>Освоены Python, Pygame, Git, геймдизайн, архитектура и командная разработка</a:t>
            </a:r>
          </a:p>
          <a:p>
            <a:pPr marL="203200" indent="-203200">
              <a:lnSpc>
                <a:spcPct val="127000"/>
              </a:lnSpc>
              <a:buSzPct val="100000"/>
              <a:buChar char="•"/>
              <a:defRPr sz="1000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defRPr>
            </a:pPr>
            <a:r>
              <a:t>Созданы GDD, TDD, документация и публичный репозиторий</a:t>
            </a:r>
          </a:p>
        </p:txBody>
      </p:sp>
      <p:sp>
        <p:nvSpPr>
          <p:cNvPr id="221" name="Text 5"/>
          <p:cNvSpPr txBox="1"/>
          <p:nvPr/>
        </p:nvSpPr>
        <p:spPr>
          <a:xfrm>
            <a:off x="4733478" y="1343917"/>
            <a:ext cx="1335783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ct val="104000"/>
              </a:lnSpc>
              <a:defRPr b="1" sz="1200">
                <a:solidFill>
                  <a:srgbClr val="333F70"/>
                </a:solidFill>
                <a:latin typeface="Unbounded Bold"/>
                <a:ea typeface="Unbounded Bold"/>
                <a:cs typeface="Unbounded Bold"/>
                <a:sym typeface="Unbounded Bold"/>
              </a:defRPr>
            </a:lvl1pPr>
          </a:lstStyle>
          <a:p>
            <a:pPr/>
            <a:r>
              <a:t>Следующие шаги</a:t>
            </a:r>
          </a:p>
        </p:txBody>
      </p:sp>
      <p:sp>
        <p:nvSpPr>
          <p:cNvPr id="222" name="Shape 6"/>
          <p:cNvSpPr/>
          <p:nvPr/>
        </p:nvSpPr>
        <p:spPr>
          <a:xfrm>
            <a:off x="4733478" y="1675581"/>
            <a:ext cx="289025" cy="289025"/>
          </a:xfrm>
          <a:prstGeom prst="roundRect">
            <a:avLst>
              <a:gd name="adj" fmla="val 18670"/>
            </a:avLst>
          </a:prstGeom>
          <a:solidFill>
            <a:srgbClr val="D6F5EE"/>
          </a:solidFill>
          <a:ln w="4763">
            <a:solidFill>
              <a:srgbClr val="BCDBD4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23" name="Text 7"/>
          <p:cNvSpPr txBox="1"/>
          <p:nvPr/>
        </p:nvSpPr>
        <p:spPr>
          <a:xfrm>
            <a:off x="4814491" y="1705792"/>
            <a:ext cx="127001" cy="228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 anchor="ctr">
            <a:spAutoFit/>
          </a:bodyPr>
          <a:lstStyle>
            <a:lvl1pPr algn="ctr">
              <a:defRPr b="1" sz="1500">
                <a:solidFill>
                  <a:srgbClr val="333F70"/>
                </a:solidFill>
                <a:latin typeface="Unbounded Bold"/>
                <a:ea typeface="Unbounded Bold"/>
                <a:cs typeface="Unbounded Bold"/>
                <a:sym typeface="Unbounded Bold"/>
              </a:defRPr>
            </a:lvl1pPr>
          </a:lstStyle>
          <a:p>
            <a:pPr/>
            <a:r>
              <a:t>1</a:t>
            </a:r>
          </a:p>
        </p:txBody>
      </p:sp>
      <p:sp>
        <p:nvSpPr>
          <p:cNvPr id="224" name="Text 8"/>
          <p:cNvSpPr txBox="1"/>
          <p:nvPr/>
        </p:nvSpPr>
        <p:spPr>
          <a:xfrm>
            <a:off x="5138885" y="1719708"/>
            <a:ext cx="1116932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ct val="104000"/>
              </a:lnSpc>
              <a:defRPr b="1" sz="1200">
                <a:solidFill>
                  <a:srgbClr val="333F70"/>
                </a:solidFill>
                <a:latin typeface="Unbounded Bold"/>
                <a:ea typeface="Unbounded Bold"/>
                <a:cs typeface="Unbounded Bold"/>
                <a:sym typeface="Unbounded Bold"/>
              </a:defRPr>
            </a:lvl1pPr>
          </a:lstStyle>
          <a:p>
            <a:pPr/>
            <a:r>
              <a:t>Балансировка</a:t>
            </a:r>
          </a:p>
        </p:txBody>
      </p:sp>
      <p:sp>
        <p:nvSpPr>
          <p:cNvPr id="225" name="Text 9"/>
          <p:cNvSpPr txBox="1"/>
          <p:nvPr/>
        </p:nvSpPr>
        <p:spPr>
          <a:xfrm>
            <a:off x="5138885" y="2036786"/>
            <a:ext cx="3236877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ct val="127000"/>
              </a:lnSpc>
              <a:defRPr sz="1000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</a:lstStyle>
          <a:p>
            <a:pPr/>
            <a:r>
              <a:t>Точная настройка урона, здоровья и скорости врагов</a:t>
            </a:r>
          </a:p>
        </p:txBody>
      </p:sp>
      <p:sp>
        <p:nvSpPr>
          <p:cNvPr id="226" name="Shape 10"/>
          <p:cNvSpPr/>
          <p:nvPr/>
        </p:nvSpPr>
        <p:spPr>
          <a:xfrm>
            <a:off x="4733478" y="2465560"/>
            <a:ext cx="289025" cy="289025"/>
          </a:xfrm>
          <a:prstGeom prst="roundRect">
            <a:avLst>
              <a:gd name="adj" fmla="val 18670"/>
            </a:avLst>
          </a:prstGeom>
          <a:solidFill>
            <a:srgbClr val="D6F5EE"/>
          </a:solidFill>
          <a:ln w="4763">
            <a:solidFill>
              <a:srgbClr val="BCDBD4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27" name="Text 11"/>
          <p:cNvSpPr txBox="1"/>
          <p:nvPr/>
        </p:nvSpPr>
        <p:spPr>
          <a:xfrm>
            <a:off x="4814491" y="2495773"/>
            <a:ext cx="127001" cy="228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 anchor="ctr">
            <a:spAutoFit/>
          </a:bodyPr>
          <a:lstStyle>
            <a:lvl1pPr algn="ctr">
              <a:defRPr b="1" sz="1500">
                <a:solidFill>
                  <a:srgbClr val="333F70"/>
                </a:solidFill>
                <a:latin typeface="Unbounded Bold"/>
                <a:ea typeface="Unbounded Bold"/>
                <a:cs typeface="Unbounded Bold"/>
                <a:sym typeface="Unbounded Bold"/>
              </a:defRPr>
            </a:lvl1pPr>
          </a:lstStyle>
          <a:p>
            <a:pPr/>
            <a:r>
              <a:t>2</a:t>
            </a:r>
          </a:p>
        </p:txBody>
      </p:sp>
      <p:sp>
        <p:nvSpPr>
          <p:cNvPr id="228" name="Text 12"/>
          <p:cNvSpPr txBox="1"/>
          <p:nvPr/>
        </p:nvSpPr>
        <p:spPr>
          <a:xfrm>
            <a:off x="5138885" y="2509689"/>
            <a:ext cx="1174454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ct val="104000"/>
              </a:lnSpc>
              <a:defRPr b="1" sz="1200">
                <a:solidFill>
                  <a:srgbClr val="333F70"/>
                </a:solidFill>
                <a:latin typeface="Unbounded Bold"/>
                <a:ea typeface="Unbounded Bold"/>
                <a:cs typeface="Unbounded Bold"/>
                <a:sym typeface="Unbounded Bold"/>
              </a:defRPr>
            </a:lvl1pPr>
          </a:lstStyle>
          <a:p>
            <a:pPr/>
            <a:r>
              <a:t>Новый контент</a:t>
            </a:r>
          </a:p>
        </p:txBody>
      </p:sp>
      <p:sp>
        <p:nvSpPr>
          <p:cNvPr id="229" name="Text 13"/>
          <p:cNvSpPr txBox="1"/>
          <p:nvPr/>
        </p:nvSpPr>
        <p:spPr>
          <a:xfrm>
            <a:off x="5138885" y="2826766"/>
            <a:ext cx="2955902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ct val="127000"/>
              </a:lnSpc>
              <a:defRPr sz="1000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</a:lstStyle>
          <a:p>
            <a:pPr/>
            <a:r>
              <a:t>Больше типов врагов, боссы, новые способности</a:t>
            </a:r>
          </a:p>
        </p:txBody>
      </p:sp>
      <p:sp>
        <p:nvSpPr>
          <p:cNvPr id="230" name="Shape 14"/>
          <p:cNvSpPr/>
          <p:nvPr/>
        </p:nvSpPr>
        <p:spPr>
          <a:xfrm>
            <a:off x="4733478" y="3255540"/>
            <a:ext cx="289025" cy="289025"/>
          </a:xfrm>
          <a:prstGeom prst="roundRect">
            <a:avLst>
              <a:gd name="adj" fmla="val 18670"/>
            </a:avLst>
          </a:prstGeom>
          <a:solidFill>
            <a:srgbClr val="D6F5EE"/>
          </a:solidFill>
          <a:ln w="4763">
            <a:solidFill>
              <a:srgbClr val="BCDBD4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31" name="Text 15"/>
          <p:cNvSpPr txBox="1"/>
          <p:nvPr/>
        </p:nvSpPr>
        <p:spPr>
          <a:xfrm>
            <a:off x="4814491" y="3285753"/>
            <a:ext cx="127001" cy="228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 anchor="ctr">
            <a:spAutoFit/>
          </a:bodyPr>
          <a:lstStyle>
            <a:lvl1pPr algn="ctr">
              <a:defRPr b="1" sz="1500">
                <a:solidFill>
                  <a:srgbClr val="333F70"/>
                </a:solidFill>
                <a:latin typeface="Unbounded Bold"/>
                <a:ea typeface="Unbounded Bold"/>
                <a:cs typeface="Unbounded Bold"/>
                <a:sym typeface="Unbounded Bold"/>
              </a:defRPr>
            </a:lvl1pPr>
          </a:lstStyle>
          <a:p>
            <a:pPr/>
            <a:r>
              <a:t>3</a:t>
            </a:r>
          </a:p>
        </p:txBody>
      </p:sp>
      <p:sp>
        <p:nvSpPr>
          <p:cNvPr id="232" name="Text 16"/>
          <p:cNvSpPr txBox="1"/>
          <p:nvPr/>
        </p:nvSpPr>
        <p:spPr>
          <a:xfrm>
            <a:off x="5138885" y="3299667"/>
            <a:ext cx="1077641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ct val="104000"/>
              </a:lnSpc>
              <a:defRPr b="1" sz="1200">
                <a:solidFill>
                  <a:srgbClr val="333F70"/>
                </a:solidFill>
                <a:latin typeface="Unbounded Bold"/>
                <a:ea typeface="Unbounded Bold"/>
                <a:cs typeface="Unbounded Bold"/>
                <a:sym typeface="Unbounded Bold"/>
              </a:defRPr>
            </a:lvl1pPr>
          </a:lstStyle>
          <a:p>
            <a:pPr/>
            <a:r>
              <a:t>Тестирование</a:t>
            </a:r>
          </a:p>
        </p:txBody>
      </p:sp>
      <p:sp>
        <p:nvSpPr>
          <p:cNvPr id="233" name="Text 17"/>
          <p:cNvSpPr txBox="1"/>
          <p:nvPr/>
        </p:nvSpPr>
        <p:spPr>
          <a:xfrm>
            <a:off x="5138885" y="3616747"/>
            <a:ext cx="3079677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ct val="127000"/>
              </a:lnSpc>
              <a:defRPr sz="1000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</a:lstStyle>
          <a:p>
            <a:pPr/>
            <a:r>
              <a:t>Pytest, отладка, оптимизация производительности</a:t>
            </a:r>
          </a:p>
        </p:txBody>
      </p:sp>
      <p:sp>
        <p:nvSpPr>
          <p:cNvPr id="234" name="Shape 18"/>
          <p:cNvSpPr/>
          <p:nvPr/>
        </p:nvSpPr>
        <p:spPr>
          <a:xfrm>
            <a:off x="4733478" y="4045520"/>
            <a:ext cx="289025" cy="289025"/>
          </a:xfrm>
          <a:prstGeom prst="roundRect">
            <a:avLst>
              <a:gd name="adj" fmla="val 18670"/>
            </a:avLst>
          </a:prstGeom>
          <a:solidFill>
            <a:srgbClr val="D6F5EE"/>
          </a:solidFill>
          <a:ln w="4763">
            <a:solidFill>
              <a:srgbClr val="BCDBD4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35" name="Text 19"/>
          <p:cNvSpPr txBox="1"/>
          <p:nvPr/>
        </p:nvSpPr>
        <p:spPr>
          <a:xfrm>
            <a:off x="4814491" y="4075732"/>
            <a:ext cx="127001" cy="228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 anchor="ctr">
            <a:spAutoFit/>
          </a:bodyPr>
          <a:lstStyle>
            <a:lvl1pPr algn="ctr">
              <a:defRPr b="1" sz="1500">
                <a:solidFill>
                  <a:srgbClr val="333F70"/>
                </a:solidFill>
                <a:latin typeface="Unbounded Bold"/>
                <a:ea typeface="Unbounded Bold"/>
                <a:cs typeface="Unbounded Bold"/>
                <a:sym typeface="Unbounded Bold"/>
              </a:defRPr>
            </a:lvl1pPr>
          </a:lstStyle>
          <a:p>
            <a:pPr/>
            <a:r>
              <a:t>4</a:t>
            </a:r>
          </a:p>
        </p:txBody>
      </p:sp>
      <p:sp>
        <p:nvSpPr>
          <p:cNvPr id="236" name="Text 20"/>
          <p:cNvSpPr txBox="1"/>
          <p:nvPr/>
        </p:nvSpPr>
        <p:spPr>
          <a:xfrm>
            <a:off x="5138885" y="4089648"/>
            <a:ext cx="950244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ct val="104000"/>
              </a:lnSpc>
              <a:defRPr b="1" sz="1200">
                <a:solidFill>
                  <a:srgbClr val="333F70"/>
                </a:solidFill>
                <a:latin typeface="Unbounded Bold"/>
                <a:ea typeface="Unbounded Bold"/>
                <a:cs typeface="Unbounded Bold"/>
                <a:sym typeface="Unbounded Bold"/>
              </a:defRPr>
            </a:lvl1pPr>
          </a:lstStyle>
          <a:p>
            <a:pPr/>
            <a:r>
              <a:t>Публикация</a:t>
            </a:r>
          </a:p>
        </p:txBody>
      </p:sp>
      <p:sp>
        <p:nvSpPr>
          <p:cNvPr id="237" name="Text 21"/>
          <p:cNvSpPr txBox="1"/>
          <p:nvPr/>
        </p:nvSpPr>
        <p:spPr>
          <a:xfrm>
            <a:off x="5138885" y="4406725"/>
            <a:ext cx="2990380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ct val="127000"/>
              </a:lnSpc>
              <a:defRPr sz="1000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</a:lstStyle>
          <a:p>
            <a:pPr/>
            <a:r>
              <a:t>Релиз на itch.io, сбор фидбека, развитие проекта</a:t>
            </a:r>
          </a:p>
        </p:txBody>
      </p:sp>
      <p:sp>
        <p:nvSpPr>
          <p:cNvPr id="238" name="Rectangle"/>
          <p:cNvSpPr/>
          <p:nvPr/>
        </p:nvSpPr>
        <p:spPr>
          <a:xfrm>
            <a:off x="7993895" y="4701808"/>
            <a:ext cx="1116931" cy="409504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9" rIns="45719" anchor="ctr"/>
          <a:lstStyle/>
          <a:p>
            <a:pPr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000000"/>
      </a:lt1>
      <a:dk2>
        <a:srgbClr val="A7A7A7"/>
      </a:dk2>
      <a:lt2>
        <a:srgbClr val="535353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000FF"/>
      </a:hlink>
      <a:folHlink>
        <a:srgbClr val="FF00FF"/>
      </a:folHlink>
    </a:clrScheme>
    <a:fontScheme name="Office Theme">
      <a:majorFont>
        <a:latin typeface="Helvetica"/>
        <a:ea typeface="Helvetica"/>
        <a:cs typeface="Helvetica"/>
      </a:majorFont>
      <a:minorFont>
        <a:latin typeface="Calibri"/>
        <a:ea typeface="Calibri"/>
        <a:cs typeface="Calibri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ctr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000FF"/>
      </a:hlink>
      <a:folHlink>
        <a:srgbClr val="FF00FF"/>
      </a:folHlink>
    </a:clrScheme>
    <a:fontScheme name="Office Theme">
      <a:majorFont>
        <a:latin typeface="Helvetica"/>
        <a:ea typeface="Helvetica"/>
        <a:cs typeface="Helvetica"/>
      </a:majorFont>
      <a:minorFont>
        <a:latin typeface="Calibri"/>
        <a:ea typeface="Calibri"/>
        <a:cs typeface="Calibri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ctr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